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9" r:id="rId1"/>
  </p:sldMasterIdLst>
  <p:notesMasterIdLst>
    <p:notesMasterId r:id="rId22"/>
  </p:notesMasterIdLst>
  <p:handoutMasterIdLst>
    <p:handoutMasterId r:id="rId23"/>
  </p:handoutMasterIdLst>
  <p:sldIdLst>
    <p:sldId id="304" r:id="rId2"/>
    <p:sldId id="396" r:id="rId3"/>
    <p:sldId id="424" r:id="rId4"/>
    <p:sldId id="407" r:id="rId5"/>
    <p:sldId id="427" r:id="rId6"/>
    <p:sldId id="406" r:id="rId7"/>
    <p:sldId id="430" r:id="rId8"/>
    <p:sldId id="431" r:id="rId9"/>
    <p:sldId id="435" r:id="rId10"/>
    <p:sldId id="436" r:id="rId11"/>
    <p:sldId id="437" r:id="rId12"/>
    <p:sldId id="422" r:id="rId13"/>
    <p:sldId id="428" r:id="rId14"/>
    <p:sldId id="432" r:id="rId15"/>
    <p:sldId id="425" r:id="rId16"/>
    <p:sldId id="411" r:id="rId17"/>
    <p:sldId id="433" r:id="rId18"/>
    <p:sldId id="434" r:id="rId19"/>
    <p:sldId id="438" r:id="rId20"/>
    <p:sldId id="306" r:id="rId21"/>
  </p:sldIdLst>
  <p:sldSz cx="12192000" cy="6858000"/>
  <p:notesSz cx="6858000" cy="9144000"/>
  <p:defaultTextStyle>
    <a:defPPr>
      <a:defRPr lang="en-US"/>
    </a:defPPr>
    <a:lvl1pPr algn="r" rtl="0" fontAlgn="base">
      <a:spcBef>
        <a:spcPct val="0"/>
      </a:spcBef>
      <a:spcAft>
        <a:spcPct val="0"/>
      </a:spcAft>
      <a:defRPr sz="2400" kern="1200">
        <a:solidFill>
          <a:schemeClr val="tx1"/>
        </a:solidFill>
        <a:latin typeface="Arial" panose="020B0604020202020204" pitchFamily="34" charset="0"/>
        <a:ea typeface="ＭＳ Ｐゴシック" pitchFamily="-84" charset="-128"/>
        <a:cs typeface="+mn-cs"/>
      </a:defRPr>
    </a:lvl1pPr>
    <a:lvl2pPr marL="457200" algn="r" rtl="0" fontAlgn="base">
      <a:spcBef>
        <a:spcPct val="0"/>
      </a:spcBef>
      <a:spcAft>
        <a:spcPct val="0"/>
      </a:spcAft>
      <a:defRPr sz="2400" kern="1200">
        <a:solidFill>
          <a:schemeClr val="tx1"/>
        </a:solidFill>
        <a:latin typeface="Arial" panose="020B0604020202020204" pitchFamily="34" charset="0"/>
        <a:ea typeface="ＭＳ Ｐゴシック" pitchFamily="-84" charset="-128"/>
        <a:cs typeface="+mn-cs"/>
      </a:defRPr>
    </a:lvl2pPr>
    <a:lvl3pPr marL="914400" algn="r" rtl="0" fontAlgn="base">
      <a:spcBef>
        <a:spcPct val="0"/>
      </a:spcBef>
      <a:spcAft>
        <a:spcPct val="0"/>
      </a:spcAft>
      <a:defRPr sz="2400" kern="1200">
        <a:solidFill>
          <a:schemeClr val="tx1"/>
        </a:solidFill>
        <a:latin typeface="Arial" panose="020B0604020202020204" pitchFamily="34" charset="0"/>
        <a:ea typeface="ＭＳ Ｐゴシック" pitchFamily="-84" charset="-128"/>
        <a:cs typeface="+mn-cs"/>
      </a:defRPr>
    </a:lvl3pPr>
    <a:lvl4pPr marL="1371600" algn="r" rtl="0" fontAlgn="base">
      <a:spcBef>
        <a:spcPct val="0"/>
      </a:spcBef>
      <a:spcAft>
        <a:spcPct val="0"/>
      </a:spcAft>
      <a:defRPr sz="2400" kern="1200">
        <a:solidFill>
          <a:schemeClr val="tx1"/>
        </a:solidFill>
        <a:latin typeface="Arial" panose="020B0604020202020204" pitchFamily="34" charset="0"/>
        <a:ea typeface="ＭＳ Ｐゴシック" pitchFamily="-84" charset="-128"/>
        <a:cs typeface="+mn-cs"/>
      </a:defRPr>
    </a:lvl4pPr>
    <a:lvl5pPr marL="1828800" algn="r" rtl="0" fontAlgn="base">
      <a:spcBef>
        <a:spcPct val="0"/>
      </a:spcBef>
      <a:spcAft>
        <a:spcPct val="0"/>
      </a:spcAft>
      <a:defRPr sz="2400" kern="1200">
        <a:solidFill>
          <a:schemeClr val="tx1"/>
        </a:solidFill>
        <a:latin typeface="Arial" panose="020B0604020202020204" pitchFamily="34" charset="0"/>
        <a:ea typeface="ＭＳ Ｐゴシック" pitchFamily="-8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itchFamily="-8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itchFamily="-8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itchFamily="-8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itchFamily="-84" charset="-128"/>
        <a:cs typeface="+mn-cs"/>
      </a:defRPr>
    </a:lvl9pPr>
  </p:defaultTextStyle>
  <p:extLst>
    <p:ext uri="{EFAFB233-063F-42B5-8137-9DF3F51BA10A}">
      <p15:sldGuideLst xmlns:p15="http://schemas.microsoft.com/office/powerpoint/2012/main">
        <p15:guide id="1" orient="horz" pos="1008" userDrawn="1">
          <p15:clr>
            <a:srgbClr val="A4A3A4"/>
          </p15:clr>
        </p15:guide>
        <p15:guide id="2" orient="horz" pos="145" userDrawn="1">
          <p15:clr>
            <a:srgbClr val="A4A3A4"/>
          </p15:clr>
        </p15:guide>
        <p15:guide id="3" orient="horz" pos="797" userDrawn="1">
          <p15:clr>
            <a:srgbClr val="A4A3A4"/>
          </p15:clr>
        </p15:guide>
        <p15:guide id="4" orient="horz" pos="3744" userDrawn="1">
          <p15:clr>
            <a:srgbClr val="A4A3A4"/>
          </p15:clr>
        </p15:guide>
        <p15:guide id="5" orient="horz" pos="3888" userDrawn="1">
          <p15:clr>
            <a:srgbClr val="A4A3A4"/>
          </p15:clr>
        </p15:guide>
        <p15:guide id="6" orient="horz" pos="1873" userDrawn="1">
          <p15:clr>
            <a:srgbClr val="A4A3A4"/>
          </p15:clr>
        </p15:guide>
        <p15:guide id="7" pos="576" userDrawn="1">
          <p15:clr>
            <a:srgbClr val="A4A3A4"/>
          </p15:clr>
        </p15:guide>
        <p15:guide id="8" pos="7104" userDrawn="1">
          <p15:clr>
            <a:srgbClr val="A4A3A4"/>
          </p15:clr>
        </p15:guide>
        <p15:guide id="9" pos="7488" userDrawn="1">
          <p15:clr>
            <a:srgbClr val="A4A3A4"/>
          </p15:clr>
        </p15:guide>
        <p15:guide id="10" pos="1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3F96"/>
    <a:srgbClr val="006600"/>
    <a:srgbClr val="0000FF"/>
    <a:srgbClr val="0066CC"/>
    <a:srgbClr val="000066"/>
    <a:srgbClr val="CC3300"/>
    <a:srgbClr val="E9EBEF"/>
    <a:srgbClr val="D1D4DD"/>
    <a:srgbClr val="CC66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3" autoAdjust="0"/>
    <p:restoredTop sz="84727" autoAdjust="0"/>
  </p:normalViewPr>
  <p:slideViewPr>
    <p:cSldViewPr snapToGrid="0">
      <p:cViewPr varScale="1">
        <p:scale>
          <a:sx n="93" d="100"/>
          <a:sy n="93" d="100"/>
        </p:scale>
        <p:origin x="516" y="96"/>
      </p:cViewPr>
      <p:guideLst>
        <p:guide orient="horz" pos="1008"/>
        <p:guide orient="horz" pos="145"/>
        <p:guide orient="horz" pos="797"/>
        <p:guide orient="horz" pos="3744"/>
        <p:guide orient="horz" pos="3888"/>
        <p:guide orient="horz" pos="1873"/>
        <p:guide pos="576"/>
        <p:guide pos="7104"/>
        <p:guide pos="7488"/>
        <p:guide pos="192"/>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7" d="100"/>
          <a:sy n="67" d="100"/>
        </p:scale>
        <p:origin x="2429"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8601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en-US"/>
          </a:p>
        </p:txBody>
      </p:sp>
      <p:sp>
        <p:nvSpPr>
          <p:cNvPr id="8602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8602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defRPr sz="1200"/>
            </a:lvl1pPr>
          </a:lstStyle>
          <a:p>
            <a:fld id="{05E85D13-7FEE-4A30-B43D-71D2B427756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l">
              <a:defRPr sz="1200" smtClean="0"/>
            </a:lvl1pPr>
          </a:lstStyle>
          <a:p>
            <a:pPr>
              <a:defRPr/>
            </a:pPr>
            <a:r>
              <a:rPr lang="en-US" altLang="en-US" dirty="0"/>
              <a:t>NCTU CSD Queueing Theory</a:t>
            </a:r>
          </a:p>
        </p:txBody>
      </p:sp>
      <p:sp>
        <p:nvSpPr>
          <p:cNvPr id="327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defRPr sz="1200" smtClean="0"/>
            </a:lvl1pPr>
          </a:lstStyle>
          <a:p>
            <a:pPr>
              <a:defRPr/>
            </a:pPr>
            <a:r>
              <a:rPr lang="en-US" altLang="en-US" dirty="0"/>
              <a:t>Instructor: Chi-Yu Li</a:t>
            </a:r>
          </a:p>
        </p:txBody>
      </p:sp>
      <p:sp>
        <p:nvSpPr>
          <p:cNvPr id="327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27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defRPr sz="1200"/>
            </a:lvl1pPr>
          </a:lstStyle>
          <a:p>
            <a:fld id="{5B8D8FCE-FEE4-42F2-859E-D3FE38494F8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8D8FCE-FEE4-42F2-859E-D3FE38494F88}" type="slidenum">
              <a:rPr lang="en-US" altLang="en-US" smtClean="0"/>
              <a:pPr/>
              <a:t>1</a:t>
            </a:fld>
            <a:endParaRPr lang="en-US" altLang="en-US"/>
          </a:p>
        </p:txBody>
      </p:sp>
    </p:spTree>
    <p:extLst>
      <p:ext uri="{BB962C8B-B14F-4D97-AF65-F5344CB8AC3E}">
        <p14:creationId xmlns:p14="http://schemas.microsoft.com/office/powerpoint/2010/main" val="1259770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2</a:t>
            </a:fld>
            <a:endParaRPr lang="en-US" altLang="en-US"/>
          </a:p>
        </p:txBody>
      </p:sp>
    </p:spTree>
    <p:extLst>
      <p:ext uri="{BB962C8B-B14F-4D97-AF65-F5344CB8AC3E}">
        <p14:creationId xmlns:p14="http://schemas.microsoft.com/office/powerpoint/2010/main" val="278609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5B8D8FCE-FEE4-42F2-859E-D3FE38494F88}" type="slidenum">
              <a:rPr lang="en-US" altLang="en-US" smtClean="0"/>
              <a:pPr/>
              <a:t>3</a:t>
            </a:fld>
            <a:endParaRPr lang="en-US" altLang="en-US"/>
          </a:p>
        </p:txBody>
      </p:sp>
    </p:spTree>
    <p:extLst>
      <p:ext uri="{BB962C8B-B14F-4D97-AF65-F5344CB8AC3E}">
        <p14:creationId xmlns:p14="http://schemas.microsoft.com/office/powerpoint/2010/main" val="2309983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5B8D8FCE-FEE4-42F2-859E-D3FE38494F88}" type="slidenum">
              <a:rPr lang="en-US" altLang="en-US" smtClean="0"/>
              <a:pPr/>
              <a:t>4</a:t>
            </a:fld>
            <a:endParaRPr lang="en-US" altLang="en-US"/>
          </a:p>
        </p:txBody>
      </p:sp>
    </p:spTree>
    <p:extLst>
      <p:ext uri="{BB962C8B-B14F-4D97-AF65-F5344CB8AC3E}">
        <p14:creationId xmlns:p14="http://schemas.microsoft.com/office/powerpoint/2010/main" val="535494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5</a:t>
            </a:fld>
            <a:endParaRPr lang="en-US" altLang="en-US"/>
          </a:p>
        </p:txBody>
      </p:sp>
    </p:spTree>
    <p:extLst>
      <p:ext uri="{BB962C8B-B14F-4D97-AF65-F5344CB8AC3E}">
        <p14:creationId xmlns:p14="http://schemas.microsoft.com/office/powerpoint/2010/main" val="4091874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 altLang="zh-TW" dirty="0">
              <a:effectLst/>
              <a:latin typeface="Helvetica Neue" panose="02000503000000020004" pitchFamily="2" charset="0"/>
            </a:endParaRPr>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6</a:t>
            </a:fld>
            <a:endParaRPr lang="en-US" altLang="en-US"/>
          </a:p>
        </p:txBody>
      </p:sp>
    </p:spTree>
    <p:extLst>
      <p:ext uri="{BB962C8B-B14F-4D97-AF65-F5344CB8AC3E}">
        <p14:creationId xmlns:p14="http://schemas.microsoft.com/office/powerpoint/2010/main" val="4198214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 altLang="zh-TW" dirty="0">
              <a:effectLst/>
              <a:latin typeface="Helvetica Neue" panose="02000503000000020004" pitchFamily="2" charset="0"/>
            </a:endParaRPr>
          </a:p>
        </p:txBody>
      </p:sp>
      <p:sp>
        <p:nvSpPr>
          <p:cNvPr id="4" name="投影片編號版面配置區 3"/>
          <p:cNvSpPr>
            <a:spLocks noGrp="1"/>
          </p:cNvSpPr>
          <p:nvPr>
            <p:ph type="sldNum" sz="quarter" idx="10"/>
          </p:nvPr>
        </p:nvSpPr>
        <p:spPr/>
        <p:txBody>
          <a:bodyPr/>
          <a:lstStyle/>
          <a:p>
            <a:fld id="{5B8D8FCE-FEE4-42F2-859E-D3FE38494F88}" type="slidenum">
              <a:rPr lang="en-US" altLang="en-US" smtClean="0"/>
              <a:pPr/>
              <a:t>7</a:t>
            </a:fld>
            <a:endParaRPr lang="en-US" altLang="en-US"/>
          </a:p>
        </p:txBody>
      </p:sp>
    </p:spTree>
    <p:extLst>
      <p:ext uri="{BB962C8B-B14F-4D97-AF65-F5344CB8AC3E}">
        <p14:creationId xmlns:p14="http://schemas.microsoft.com/office/powerpoint/2010/main" val="606245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8</a:t>
            </a:fld>
            <a:endParaRPr lang="en-US" altLang="en-US"/>
          </a:p>
        </p:txBody>
      </p:sp>
    </p:spTree>
    <p:extLst>
      <p:ext uri="{BB962C8B-B14F-4D97-AF65-F5344CB8AC3E}">
        <p14:creationId xmlns:p14="http://schemas.microsoft.com/office/powerpoint/2010/main" val="111230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4F2C-5367-F47D-5EDE-0E998C62644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711F42-CE3E-5AB3-05CC-F5D9A9B806C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435ADF6-8072-C2FF-0B76-26D6B6851A52}"/>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D9DD4DC-7382-CACA-1719-EDD80FB23805}"/>
              </a:ext>
            </a:extLst>
          </p:cNvPr>
          <p:cNvSpPr>
            <a:spLocks noGrp="1"/>
          </p:cNvSpPr>
          <p:nvPr>
            <p:ph type="sldNum" sz="quarter" idx="5"/>
          </p:nvPr>
        </p:nvSpPr>
        <p:spPr/>
        <p:txBody>
          <a:bodyPr/>
          <a:lstStyle/>
          <a:p>
            <a:fld id="{5B8D8FCE-FEE4-42F2-859E-D3FE38494F88}" type="slidenum">
              <a:rPr lang="en-US" altLang="en-US" smtClean="0"/>
              <a:pPr/>
              <a:t>9</a:t>
            </a:fld>
            <a:endParaRPr lang="en-US" altLang="en-US"/>
          </a:p>
        </p:txBody>
      </p:sp>
    </p:spTree>
    <p:extLst>
      <p:ext uri="{BB962C8B-B14F-4D97-AF65-F5344CB8AC3E}">
        <p14:creationId xmlns:p14="http://schemas.microsoft.com/office/powerpoint/2010/main" val="4114593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D4D8B-16E1-C447-D6B4-FB220C84DB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AA3EFD1-8230-0734-41D4-60C797E6824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A1FD589-1007-FF3D-35C0-23333B11373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1A16E2C-EDA8-2C67-00D7-9360912924D6}"/>
              </a:ext>
            </a:extLst>
          </p:cNvPr>
          <p:cNvSpPr>
            <a:spLocks noGrp="1"/>
          </p:cNvSpPr>
          <p:nvPr>
            <p:ph type="sldNum" sz="quarter" idx="5"/>
          </p:nvPr>
        </p:nvSpPr>
        <p:spPr/>
        <p:txBody>
          <a:bodyPr/>
          <a:lstStyle/>
          <a:p>
            <a:fld id="{5B8D8FCE-FEE4-42F2-859E-D3FE38494F88}" type="slidenum">
              <a:rPr lang="en-US" altLang="en-US" smtClean="0"/>
              <a:pPr/>
              <a:t>10</a:t>
            </a:fld>
            <a:endParaRPr lang="en-US" altLang="en-US"/>
          </a:p>
        </p:txBody>
      </p:sp>
    </p:spTree>
    <p:extLst>
      <p:ext uri="{BB962C8B-B14F-4D97-AF65-F5344CB8AC3E}">
        <p14:creationId xmlns:p14="http://schemas.microsoft.com/office/powerpoint/2010/main" val="496688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56A8F-0D44-ED3D-A4A0-58D0319BBB4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F6768CA-D707-F46D-B771-E16B3E5C139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0A725FB-FDFF-5721-2D50-159D3D8A81B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C8F6529-6BC4-A919-C4D5-CB72E9A4D28A}"/>
              </a:ext>
            </a:extLst>
          </p:cNvPr>
          <p:cNvSpPr>
            <a:spLocks noGrp="1"/>
          </p:cNvSpPr>
          <p:nvPr>
            <p:ph type="sldNum" sz="quarter" idx="5"/>
          </p:nvPr>
        </p:nvSpPr>
        <p:spPr/>
        <p:txBody>
          <a:bodyPr/>
          <a:lstStyle/>
          <a:p>
            <a:fld id="{5B8D8FCE-FEE4-42F2-859E-D3FE38494F88}" type="slidenum">
              <a:rPr lang="en-US" altLang="en-US" smtClean="0"/>
              <a:pPr/>
              <a:t>11</a:t>
            </a:fld>
            <a:endParaRPr lang="en-US" altLang="en-US"/>
          </a:p>
        </p:txBody>
      </p:sp>
    </p:spTree>
    <p:extLst>
      <p:ext uri="{BB962C8B-B14F-4D97-AF65-F5344CB8AC3E}">
        <p14:creationId xmlns:p14="http://schemas.microsoft.com/office/powerpoint/2010/main" val="1979363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12</a:t>
            </a:fld>
            <a:endParaRPr lang="en-US" altLang="en-US"/>
          </a:p>
        </p:txBody>
      </p:sp>
    </p:spTree>
    <p:extLst>
      <p:ext uri="{BB962C8B-B14F-4D97-AF65-F5344CB8AC3E}">
        <p14:creationId xmlns:p14="http://schemas.microsoft.com/office/powerpoint/2010/main" val="2985270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D8FCE-FEE4-42F2-859E-D3FE38494F88}" type="slidenum">
              <a:rPr lang="en-US" altLang="en-US" smtClean="0"/>
              <a:pPr/>
              <a:t>13</a:t>
            </a:fld>
            <a:endParaRPr lang="en-US" altLang="en-US"/>
          </a:p>
        </p:txBody>
      </p:sp>
    </p:spTree>
    <p:extLst>
      <p:ext uri="{BB962C8B-B14F-4D97-AF65-F5344CB8AC3E}">
        <p14:creationId xmlns:p14="http://schemas.microsoft.com/office/powerpoint/2010/main" val="782770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D8FCE-FEE4-42F2-859E-D3FE38494F88}" type="slidenum">
              <a:rPr lang="en-US" altLang="en-US" smtClean="0"/>
              <a:pPr/>
              <a:t>14</a:t>
            </a:fld>
            <a:endParaRPr lang="en-US" altLang="en-US"/>
          </a:p>
        </p:txBody>
      </p:sp>
    </p:spTree>
    <p:extLst>
      <p:ext uri="{BB962C8B-B14F-4D97-AF65-F5344CB8AC3E}">
        <p14:creationId xmlns:p14="http://schemas.microsoft.com/office/powerpoint/2010/main" val="1836020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D8FCE-FEE4-42F2-859E-D3FE38494F88}" type="slidenum">
              <a:rPr lang="en-US" altLang="en-US" smtClean="0"/>
              <a:pPr/>
              <a:t>15</a:t>
            </a:fld>
            <a:endParaRPr lang="en-US" altLang="en-US"/>
          </a:p>
        </p:txBody>
      </p:sp>
    </p:spTree>
    <p:extLst>
      <p:ext uri="{BB962C8B-B14F-4D97-AF65-F5344CB8AC3E}">
        <p14:creationId xmlns:p14="http://schemas.microsoft.com/office/powerpoint/2010/main" val="3691091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16</a:t>
            </a:fld>
            <a:endParaRPr lang="en-US" altLang="en-US"/>
          </a:p>
        </p:txBody>
      </p:sp>
    </p:spTree>
    <p:extLst>
      <p:ext uri="{BB962C8B-B14F-4D97-AF65-F5344CB8AC3E}">
        <p14:creationId xmlns:p14="http://schemas.microsoft.com/office/powerpoint/2010/main" val="3279368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0B67-E2CE-A5E3-5A00-4F7010FDA74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33006F9-D2FA-B602-9CC2-B34635EE3DA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D38AD48-BB43-2AA4-5EF3-08B947473A10}"/>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49054C8D-100F-E762-0BBF-AF2382871749}"/>
              </a:ext>
            </a:extLst>
          </p:cNvPr>
          <p:cNvSpPr>
            <a:spLocks noGrp="1"/>
          </p:cNvSpPr>
          <p:nvPr>
            <p:ph type="sldNum" sz="quarter" idx="10"/>
          </p:nvPr>
        </p:nvSpPr>
        <p:spPr/>
        <p:txBody>
          <a:bodyPr/>
          <a:lstStyle/>
          <a:p>
            <a:fld id="{5B8D8FCE-FEE4-42F2-859E-D3FE38494F88}" type="slidenum">
              <a:rPr lang="en-US" altLang="en-US" smtClean="0"/>
              <a:pPr/>
              <a:t>17</a:t>
            </a:fld>
            <a:endParaRPr lang="en-US" altLang="en-US"/>
          </a:p>
        </p:txBody>
      </p:sp>
    </p:spTree>
    <p:extLst>
      <p:ext uri="{BB962C8B-B14F-4D97-AF65-F5344CB8AC3E}">
        <p14:creationId xmlns:p14="http://schemas.microsoft.com/office/powerpoint/2010/main" val="2903998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24A74-C398-E439-FCF6-2846D30BE60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D34E48D-E7C9-A2A9-1B3F-3354AA167C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C3CC70-D29A-2DE6-9BFE-AFC5E0488F6F}"/>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7B5465DE-5DA9-E7E3-71DB-BC330D961E60}"/>
              </a:ext>
            </a:extLst>
          </p:cNvPr>
          <p:cNvSpPr>
            <a:spLocks noGrp="1"/>
          </p:cNvSpPr>
          <p:nvPr>
            <p:ph type="sldNum" sz="quarter" idx="10"/>
          </p:nvPr>
        </p:nvSpPr>
        <p:spPr/>
        <p:txBody>
          <a:bodyPr/>
          <a:lstStyle/>
          <a:p>
            <a:fld id="{5B8D8FCE-FEE4-42F2-859E-D3FE38494F88}" type="slidenum">
              <a:rPr lang="en-US" altLang="en-US" smtClean="0"/>
              <a:pPr/>
              <a:t>18</a:t>
            </a:fld>
            <a:endParaRPr lang="en-US" altLang="en-US"/>
          </a:p>
        </p:txBody>
      </p:sp>
    </p:spTree>
    <p:extLst>
      <p:ext uri="{BB962C8B-B14F-4D97-AF65-F5344CB8AC3E}">
        <p14:creationId xmlns:p14="http://schemas.microsoft.com/office/powerpoint/2010/main" val="728205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A7C0-5BB6-ED34-E84B-34B73325921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BB0C32A-7065-F04F-42D3-9E917AD9397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4C37AB-A0E8-1259-641B-57378D3BDF56}"/>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2CA85FB3-4E4E-02A6-7F53-13039DB51435}"/>
              </a:ext>
            </a:extLst>
          </p:cNvPr>
          <p:cNvSpPr>
            <a:spLocks noGrp="1"/>
          </p:cNvSpPr>
          <p:nvPr>
            <p:ph type="sldNum" sz="quarter" idx="10"/>
          </p:nvPr>
        </p:nvSpPr>
        <p:spPr/>
        <p:txBody>
          <a:bodyPr/>
          <a:lstStyle/>
          <a:p>
            <a:fld id="{5B8D8FCE-FEE4-42F2-859E-D3FE38494F88}" type="slidenum">
              <a:rPr lang="en-US" altLang="en-US" smtClean="0"/>
              <a:pPr/>
              <a:t>19</a:t>
            </a:fld>
            <a:endParaRPr lang="en-US" altLang="en-US"/>
          </a:p>
        </p:txBody>
      </p:sp>
    </p:spTree>
    <p:extLst>
      <p:ext uri="{BB962C8B-B14F-4D97-AF65-F5344CB8AC3E}">
        <p14:creationId xmlns:p14="http://schemas.microsoft.com/office/powerpoint/2010/main" val="3364067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5B8D8FCE-FEE4-42F2-859E-D3FE38494F88}" type="slidenum">
              <a:rPr lang="en-US" altLang="en-US" smtClean="0"/>
              <a:pPr/>
              <a:t>20</a:t>
            </a:fld>
            <a:endParaRPr lang="en-US" altLang="en-US"/>
          </a:p>
        </p:txBody>
      </p:sp>
    </p:spTree>
    <p:extLst>
      <p:ext uri="{BB962C8B-B14F-4D97-AF65-F5344CB8AC3E}">
        <p14:creationId xmlns:p14="http://schemas.microsoft.com/office/powerpoint/2010/main" val="584451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39"/>
          <p:cNvSpPr>
            <a:spLocks noGrp="1" noChangeArrowheads="1"/>
          </p:cNvSpPr>
          <p:nvPr>
            <p:ph type="ctrTitle" sz="quarter"/>
          </p:nvPr>
        </p:nvSpPr>
        <p:spPr>
          <a:xfrm>
            <a:off x="914400" y="2527300"/>
            <a:ext cx="10363200" cy="1143000"/>
          </a:xfrm>
        </p:spPr>
        <p:txBody>
          <a:bodyPr lIns="91440" tIns="45720" rIns="91440" bIns="45720" anchor="ctr"/>
          <a:lstStyle>
            <a:lvl1pPr>
              <a:defRPr sz="4800"/>
            </a:lvl1pPr>
          </a:lstStyle>
          <a:p>
            <a:pPr lvl="0"/>
            <a:r>
              <a:rPr lang="en-US" noProof="0" dirty="0"/>
              <a:t>Click to edit Master title style</a:t>
            </a:r>
          </a:p>
        </p:txBody>
      </p:sp>
      <p:sp>
        <p:nvSpPr>
          <p:cNvPr id="3" name="Rectangle 7"/>
          <p:cNvSpPr>
            <a:spLocks noGrp="1" noChangeArrowheads="1"/>
          </p:cNvSpPr>
          <p:nvPr>
            <p:ph type="sldNum" sz="quarter" idx="10"/>
          </p:nvPr>
        </p:nvSpPr>
        <p:spPr>
          <a:ln/>
        </p:spPr>
        <p:txBody>
          <a:bodyPr/>
          <a:lstStyle>
            <a:lvl1pPr>
              <a:defRPr/>
            </a:lvl1pPr>
          </a:lstStyle>
          <a:p>
            <a:fld id="{2A9BF25D-8552-4C42-8F5C-36E233E5737C}" type="slidenum">
              <a:rPr lang="en-US" altLang="en-US"/>
              <a:pPr/>
              <a:t>‹#›</a:t>
            </a:fld>
            <a:endParaRPr lang="en-US" altLang="en-US"/>
          </a:p>
        </p:txBody>
      </p:sp>
    </p:spTree>
    <p:extLst>
      <p:ext uri="{BB962C8B-B14F-4D97-AF65-F5344CB8AC3E}">
        <p14:creationId xmlns:p14="http://schemas.microsoft.com/office/powerpoint/2010/main" val="717285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912291" y="1649506"/>
            <a:ext cx="10325101" cy="4306794"/>
          </a:xfrm>
        </p:spPr>
        <p:txBody>
          <a:bodyPr/>
          <a:lstStyle>
            <a:lvl1pPr>
              <a:lnSpc>
                <a:spcPct val="100000"/>
              </a:lnSpc>
              <a:defRPr sz="2800">
                <a:latin typeface="Calibri" panose="020F0502020204030204" pitchFamily="34" charset="0"/>
                <a:cs typeface="Calibri" panose="020F0502020204030204" pitchFamily="34" charset="0"/>
              </a:defRPr>
            </a:lvl1pPr>
            <a:lvl2pPr>
              <a:lnSpc>
                <a:spcPct val="100000"/>
              </a:lnSpc>
              <a:defRPr sz="2400" baseline="0">
                <a:latin typeface="Calibri" panose="020F0502020204030204" pitchFamily="34" charset="0"/>
                <a:cs typeface="Calibri" panose="020F0502020204030204" pitchFamily="34" charset="0"/>
              </a:defRPr>
            </a:lvl2pPr>
            <a:lvl3pPr>
              <a:lnSpc>
                <a:spcPct val="100000"/>
              </a:lnSpc>
              <a:defRPr sz="2000">
                <a:latin typeface="Calibri" panose="020F0502020204030204" pitchFamily="34" charset="0"/>
                <a:cs typeface="Calibri" panose="020F0502020204030204" pitchFamily="34" charset="0"/>
              </a:defRPr>
            </a:lvl3pPr>
            <a:lvl4pPr>
              <a:lnSpc>
                <a:spcPct val="100000"/>
              </a:lnSpc>
              <a:defRPr sz="1800">
                <a:latin typeface="Calibri" panose="020F0502020204030204" pitchFamily="34" charset="0"/>
                <a:cs typeface="Calibri" panose="020F0502020204030204" pitchFamily="34" charset="0"/>
              </a:defRPr>
            </a:lvl4pPr>
            <a:lvl5pPr>
              <a:lnSpc>
                <a:spcPct val="100000"/>
              </a:lnSpc>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sz="1600"/>
            </a:lvl1pPr>
          </a:lstStyle>
          <a:p>
            <a:fld id="{8D3C0205-A4ED-49FA-A528-855184B0DC67}" type="slidenum">
              <a:rPr lang="en-US" altLang="en-US" smtClean="0"/>
              <a:pPr/>
              <a:t>‹#›</a:t>
            </a:fld>
            <a:endParaRPr lang="en-US" altLang="en-US" dirty="0"/>
          </a:p>
        </p:txBody>
      </p:sp>
      <p:sp>
        <p:nvSpPr>
          <p:cNvPr id="7" name="Title 6"/>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en-US" altLang="zh-TW" dirty="0"/>
              <a:t>Click to edit Master title style</a:t>
            </a:r>
            <a:endParaRPr lang="zh-TW" altLang="en-US" dirty="0"/>
          </a:p>
        </p:txBody>
      </p:sp>
    </p:spTree>
    <p:extLst>
      <p:ext uri="{BB962C8B-B14F-4D97-AF65-F5344CB8AC3E}">
        <p14:creationId xmlns:p14="http://schemas.microsoft.com/office/powerpoint/2010/main" val="2214077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Line 5"/>
          <p:cNvSpPr>
            <a:spLocks noChangeShapeType="1"/>
          </p:cNvSpPr>
          <p:nvPr userDrawn="1"/>
        </p:nvSpPr>
        <p:spPr bwMode="auto">
          <a:xfrm flipV="1">
            <a:off x="6089652" y="1549400"/>
            <a:ext cx="16933"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03112" y="1497013"/>
            <a:ext cx="5053189"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sz="half" idx="11"/>
          </p:nvPr>
        </p:nvSpPr>
        <p:spPr>
          <a:xfrm>
            <a:off x="6276624" y="1497013"/>
            <a:ext cx="5053189"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12"/>
          </p:nvPr>
        </p:nvSpPr>
        <p:spPr/>
        <p:txBody>
          <a:bodyPr/>
          <a:lstStyle>
            <a:lvl1pPr>
              <a:defRPr/>
            </a:lvl1pPr>
          </a:lstStyle>
          <a:p>
            <a:fld id="{8C3EAC65-6E48-47F9-A508-3B23ADB9FDB0}" type="slidenum">
              <a:rPr lang="en-US" altLang="en-US"/>
              <a:pPr/>
              <a:t>‹#›</a:t>
            </a:fld>
            <a:endParaRPr lang="en-US" altLang="en-US"/>
          </a:p>
        </p:txBody>
      </p:sp>
    </p:spTree>
    <p:extLst>
      <p:ext uri="{BB962C8B-B14F-4D97-AF65-F5344CB8AC3E}">
        <p14:creationId xmlns:p14="http://schemas.microsoft.com/office/powerpoint/2010/main" val="285301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Left + Text Right">
    <p:spTree>
      <p:nvGrpSpPr>
        <p:cNvPr id="1" name=""/>
        <p:cNvGrpSpPr/>
        <p:nvPr/>
      </p:nvGrpSpPr>
      <p:grpSpPr>
        <a:xfrm>
          <a:off x="0" y="0"/>
          <a:ext cx="0" cy="0"/>
          <a:chOff x="0" y="0"/>
          <a:chExt cx="0" cy="0"/>
        </a:xfrm>
      </p:grpSpPr>
      <p:sp>
        <p:nvSpPr>
          <p:cNvPr id="5" name="Line 5"/>
          <p:cNvSpPr>
            <a:spLocks noChangeShapeType="1"/>
          </p:cNvSpPr>
          <p:nvPr userDrawn="1"/>
        </p:nvSpPr>
        <p:spPr bwMode="auto">
          <a:xfrm flipV="1">
            <a:off x="6089652" y="1549400"/>
            <a:ext cx="16933" cy="42799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pPr>
              <a:defRPr/>
            </a:pPr>
            <a:endParaRPr lang="en-US" sz="1800" dirty="0">
              <a:ln>
                <a:solidFill>
                  <a:schemeClr val="bg2"/>
                </a:solidFill>
              </a:ln>
            </a:endParaRPr>
          </a:p>
        </p:txBody>
      </p:sp>
      <p:sp>
        <p:nvSpPr>
          <p:cNvPr id="2" name="Title 1"/>
          <p:cNvSpPr>
            <a:spLocks noGrp="1"/>
          </p:cNvSpPr>
          <p:nvPr>
            <p:ph type="title"/>
          </p:nvPr>
        </p:nvSpPr>
        <p:spPr/>
        <p:txBody>
          <a:bodyPr/>
          <a:lstStyle/>
          <a:p>
            <a:r>
              <a:rPr lang="en-US"/>
              <a:t>Click to edit Master title style</a:t>
            </a:r>
          </a:p>
        </p:txBody>
      </p:sp>
      <p:sp>
        <p:nvSpPr>
          <p:cNvPr id="8" name="Chart Placeholder 7"/>
          <p:cNvSpPr>
            <a:spLocks noGrp="1"/>
          </p:cNvSpPr>
          <p:nvPr>
            <p:ph type="chart" sz="quarter" idx="11"/>
          </p:nvPr>
        </p:nvSpPr>
        <p:spPr>
          <a:xfrm>
            <a:off x="903118" y="1498600"/>
            <a:ext cx="5040489" cy="4457700"/>
          </a:xfrm>
        </p:spPr>
        <p:txBody>
          <a:bodyPr/>
          <a:lstStyle/>
          <a:p>
            <a:pPr lvl="0"/>
            <a:endParaRPr lang="en-US" noProof="0"/>
          </a:p>
        </p:txBody>
      </p:sp>
      <p:sp>
        <p:nvSpPr>
          <p:cNvPr id="7" name="Content Placeholder 3"/>
          <p:cNvSpPr>
            <a:spLocks noGrp="1"/>
          </p:cNvSpPr>
          <p:nvPr>
            <p:ph sz="half" idx="2"/>
          </p:nvPr>
        </p:nvSpPr>
        <p:spPr>
          <a:xfrm>
            <a:off x="6244167" y="1497013"/>
            <a:ext cx="5077884" cy="4459287"/>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12"/>
          </p:nvPr>
        </p:nvSpPr>
        <p:spPr/>
        <p:txBody>
          <a:bodyPr/>
          <a:lstStyle>
            <a:lvl1pPr>
              <a:defRPr/>
            </a:lvl1pPr>
          </a:lstStyle>
          <a:p>
            <a:fld id="{25B07F57-CBA6-4CDE-88DD-8693E0CC35D4}" type="slidenum">
              <a:rPr lang="en-US" altLang="en-US"/>
              <a:pPr/>
              <a:t>‹#›</a:t>
            </a:fld>
            <a:endParaRPr lang="en-US" altLang="en-US"/>
          </a:p>
        </p:txBody>
      </p:sp>
    </p:spTree>
    <p:extLst>
      <p:ext uri="{BB962C8B-B14F-4D97-AF65-F5344CB8AC3E}">
        <p14:creationId xmlns:p14="http://schemas.microsoft.com/office/powerpoint/2010/main" val="1208041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eft + Pictur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6091519" y="520700"/>
            <a:ext cx="6100484" cy="5486400"/>
          </a:xfrm>
        </p:spPr>
        <p:txBody>
          <a:bodyPr/>
          <a:lstStyle/>
          <a:p>
            <a:pPr lvl="0"/>
            <a:endParaRPr lang="en-US" noProof="0" dirty="0"/>
          </a:p>
        </p:txBody>
      </p:sp>
      <p:sp>
        <p:nvSpPr>
          <p:cNvPr id="6" name="Content Placeholder 2"/>
          <p:cNvSpPr>
            <a:spLocks noGrp="1"/>
          </p:cNvSpPr>
          <p:nvPr>
            <p:ph sz="half" idx="1"/>
          </p:nvPr>
        </p:nvSpPr>
        <p:spPr>
          <a:xfrm>
            <a:off x="903112" y="1497013"/>
            <a:ext cx="5053189"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p:cNvSpPr>
            <a:spLocks noGrp="1" noChangeArrowheads="1"/>
          </p:cNvSpPr>
          <p:nvPr>
            <p:ph type="sldNum" sz="quarter" idx="12"/>
          </p:nvPr>
        </p:nvSpPr>
        <p:spPr>
          <a:ln/>
        </p:spPr>
        <p:txBody>
          <a:bodyPr/>
          <a:lstStyle>
            <a:lvl1pPr>
              <a:defRPr/>
            </a:lvl1pPr>
          </a:lstStyle>
          <a:p>
            <a:fld id="{E82676A3-2B97-41A6-9128-8DA59EA958C6}" type="slidenum">
              <a:rPr lang="en-US" altLang="en-US"/>
              <a:pPr/>
              <a:t>‹#›</a:t>
            </a:fld>
            <a:endParaRPr lang="en-US" altLang="en-US"/>
          </a:p>
        </p:txBody>
      </p:sp>
    </p:spTree>
    <p:extLst>
      <p:ext uri="{BB962C8B-B14F-4D97-AF65-F5344CB8AC3E}">
        <p14:creationId xmlns:p14="http://schemas.microsoft.com/office/powerpoint/2010/main" val="2173891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p:cNvSpPr>
            <a:spLocks noGrp="1"/>
          </p:cNvSpPr>
          <p:nvPr>
            <p:ph type="title"/>
          </p:nvPr>
        </p:nvSpPr>
        <p:spPr>
          <a:xfrm>
            <a:off x="6389517" y="596900"/>
            <a:ext cx="5057423" cy="787400"/>
          </a:xfrm>
        </p:spPr>
        <p:txBody>
          <a:bodyPr/>
          <a:lstStyle/>
          <a:p>
            <a:r>
              <a:rPr lang="en-US"/>
              <a:t>Click to edit Master title style</a:t>
            </a:r>
            <a:endParaRPr lang="en-US" dirty="0"/>
          </a:p>
        </p:txBody>
      </p:sp>
      <p:sp>
        <p:nvSpPr>
          <p:cNvPr id="5" name="Picture Placeholder 6"/>
          <p:cNvSpPr>
            <a:spLocks noGrp="1"/>
          </p:cNvSpPr>
          <p:nvPr>
            <p:ph type="pic" sz="quarter" idx="11"/>
          </p:nvPr>
        </p:nvSpPr>
        <p:spPr>
          <a:xfrm>
            <a:off x="3" y="520700"/>
            <a:ext cx="6100484" cy="5486400"/>
          </a:xfrm>
        </p:spPr>
        <p:txBody>
          <a:bodyPr/>
          <a:lstStyle/>
          <a:p>
            <a:pPr lvl="0"/>
            <a:endParaRPr lang="en-US" noProof="0" dirty="0"/>
          </a:p>
        </p:txBody>
      </p:sp>
      <p:sp>
        <p:nvSpPr>
          <p:cNvPr id="6" name="Content Placeholder 2"/>
          <p:cNvSpPr>
            <a:spLocks noGrp="1"/>
          </p:cNvSpPr>
          <p:nvPr>
            <p:ph sz="half" idx="1"/>
          </p:nvPr>
        </p:nvSpPr>
        <p:spPr>
          <a:xfrm>
            <a:off x="6389512" y="1497013"/>
            <a:ext cx="5053189"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7"/>
          <p:cNvSpPr>
            <a:spLocks noGrp="1" noChangeArrowheads="1"/>
          </p:cNvSpPr>
          <p:nvPr>
            <p:ph type="sldNum" sz="quarter" idx="12"/>
          </p:nvPr>
        </p:nvSpPr>
        <p:spPr>
          <a:ln/>
        </p:spPr>
        <p:txBody>
          <a:bodyPr/>
          <a:lstStyle>
            <a:lvl1pPr>
              <a:defRPr/>
            </a:lvl1pPr>
          </a:lstStyle>
          <a:p>
            <a:fld id="{3289C69E-C818-431A-9DBE-1782311EBBAA}" type="slidenum">
              <a:rPr lang="en-US" altLang="en-US"/>
              <a:pPr/>
              <a:t>‹#›</a:t>
            </a:fld>
            <a:endParaRPr lang="en-US" altLang="en-US"/>
          </a:p>
        </p:txBody>
      </p:sp>
    </p:spTree>
    <p:extLst>
      <p:ext uri="{BB962C8B-B14F-4D97-AF65-F5344CB8AC3E}">
        <p14:creationId xmlns:p14="http://schemas.microsoft.com/office/powerpoint/2010/main" val="351224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Left + Picture Right INS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Picture Placeholder 6"/>
          <p:cNvSpPr>
            <a:spLocks noGrp="1"/>
          </p:cNvSpPr>
          <p:nvPr>
            <p:ph type="pic" sz="quarter" idx="11"/>
          </p:nvPr>
        </p:nvSpPr>
        <p:spPr>
          <a:xfrm>
            <a:off x="6098691" y="1625604"/>
            <a:ext cx="5178909" cy="3810219"/>
          </a:xfrm>
        </p:spPr>
        <p:txBody>
          <a:bodyPr/>
          <a:lstStyle/>
          <a:p>
            <a:pPr lvl="0"/>
            <a:endParaRPr lang="en-US" noProof="0" dirty="0"/>
          </a:p>
        </p:txBody>
      </p:sp>
      <p:sp>
        <p:nvSpPr>
          <p:cNvPr id="8" name="Content Placeholder 2"/>
          <p:cNvSpPr>
            <a:spLocks noGrp="1"/>
          </p:cNvSpPr>
          <p:nvPr>
            <p:ph sz="half" idx="1"/>
          </p:nvPr>
        </p:nvSpPr>
        <p:spPr>
          <a:xfrm>
            <a:off x="903112" y="1497013"/>
            <a:ext cx="5053189" cy="445928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7"/>
          <p:cNvSpPr>
            <a:spLocks noGrp="1" noChangeArrowheads="1"/>
          </p:cNvSpPr>
          <p:nvPr>
            <p:ph type="sldNum" sz="quarter" idx="12"/>
          </p:nvPr>
        </p:nvSpPr>
        <p:spPr>
          <a:ln/>
        </p:spPr>
        <p:txBody>
          <a:bodyPr/>
          <a:lstStyle>
            <a:lvl1pPr>
              <a:defRPr/>
            </a:lvl1pPr>
          </a:lstStyle>
          <a:p>
            <a:fld id="{4B311D3F-1939-4C5B-805B-EA1AFBE2E8CE}" type="slidenum">
              <a:rPr lang="en-US" altLang="en-US"/>
              <a:pPr/>
              <a:t>‹#›</a:t>
            </a:fld>
            <a:endParaRPr lang="en-US" altLang="en-US"/>
          </a:p>
        </p:txBody>
      </p:sp>
    </p:spTree>
    <p:extLst>
      <p:ext uri="{BB962C8B-B14F-4D97-AF65-F5344CB8AC3E}">
        <p14:creationId xmlns:p14="http://schemas.microsoft.com/office/powerpoint/2010/main" val="627379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Full Bleed">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0" y="520700"/>
            <a:ext cx="12192000" cy="5486400"/>
          </a:xfrm>
        </p:spPr>
        <p:txBody>
          <a:bodyPr/>
          <a:lstStyle/>
          <a:p>
            <a:pPr lvl="0"/>
            <a:endParaRPr lang="en-US" noProof="0" dirty="0"/>
          </a:p>
        </p:txBody>
      </p:sp>
      <p:sp>
        <p:nvSpPr>
          <p:cNvPr id="3" name="Rectangle 7"/>
          <p:cNvSpPr>
            <a:spLocks noGrp="1" noChangeArrowheads="1"/>
          </p:cNvSpPr>
          <p:nvPr>
            <p:ph type="sldNum" sz="quarter" idx="12"/>
          </p:nvPr>
        </p:nvSpPr>
        <p:spPr>
          <a:ln/>
        </p:spPr>
        <p:txBody>
          <a:bodyPr/>
          <a:lstStyle>
            <a:lvl1pPr>
              <a:defRPr/>
            </a:lvl1pPr>
          </a:lstStyle>
          <a:p>
            <a:fld id="{2FF5D7BD-7131-45BE-98F1-674413530B2C}" type="slidenum">
              <a:rPr lang="en-US" altLang="en-US"/>
              <a:pPr/>
              <a:t>‹#›</a:t>
            </a:fld>
            <a:endParaRPr lang="en-US" altLang="en-US"/>
          </a:p>
        </p:txBody>
      </p:sp>
    </p:spTree>
    <p:extLst>
      <p:ext uri="{BB962C8B-B14F-4D97-AF65-F5344CB8AC3E}">
        <p14:creationId xmlns:p14="http://schemas.microsoft.com/office/powerpoint/2010/main" val="52150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2291" y="5486400"/>
            <a:ext cx="10358967" cy="342900"/>
          </a:xfrm>
        </p:spPr>
        <p:txBody>
          <a:bodyPr/>
          <a:lstStyle>
            <a:lvl1pPr algn="r">
              <a:defRPr sz="1800" baseline="0"/>
            </a:lvl1pPr>
          </a:lstStyle>
          <a:p>
            <a:r>
              <a:rPr lang="en-US" dirty="0"/>
              <a:t>Click to edit Master title style</a:t>
            </a:r>
          </a:p>
        </p:txBody>
      </p:sp>
      <p:sp>
        <p:nvSpPr>
          <p:cNvPr id="5" name="Picture Placeholder 10"/>
          <p:cNvSpPr>
            <a:spLocks noGrp="1"/>
          </p:cNvSpPr>
          <p:nvPr>
            <p:ph type="pic" sz="quarter" idx="11"/>
          </p:nvPr>
        </p:nvSpPr>
        <p:spPr>
          <a:xfrm>
            <a:off x="0" y="520711"/>
            <a:ext cx="12192000" cy="4855633"/>
          </a:xfrm>
        </p:spPr>
        <p:txBody>
          <a:bodyPr/>
          <a:lstStyle/>
          <a:p>
            <a:pPr lvl="0"/>
            <a:endParaRPr lang="en-US" noProof="0" dirty="0"/>
          </a:p>
        </p:txBody>
      </p:sp>
      <p:sp>
        <p:nvSpPr>
          <p:cNvPr id="4" name="Rectangle 7"/>
          <p:cNvSpPr>
            <a:spLocks noGrp="1" noChangeArrowheads="1"/>
          </p:cNvSpPr>
          <p:nvPr>
            <p:ph type="sldNum" sz="quarter" idx="12"/>
          </p:nvPr>
        </p:nvSpPr>
        <p:spPr>
          <a:ln/>
        </p:spPr>
        <p:txBody>
          <a:bodyPr/>
          <a:lstStyle>
            <a:lvl1pPr>
              <a:defRPr/>
            </a:lvl1pPr>
          </a:lstStyle>
          <a:p>
            <a:fld id="{01BEB3B3-9096-4A4D-ADD8-1718D56156A8}" type="slidenum">
              <a:rPr lang="en-US" altLang="en-US"/>
              <a:pPr/>
              <a:t>‹#›</a:t>
            </a:fld>
            <a:endParaRPr lang="en-US" altLang="en-US"/>
          </a:p>
        </p:txBody>
      </p:sp>
    </p:spTree>
    <p:extLst>
      <p:ext uri="{BB962C8B-B14F-4D97-AF65-F5344CB8AC3E}">
        <p14:creationId xmlns:p14="http://schemas.microsoft.com/office/powerpoint/2010/main" val="76699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7"/>
          <p:cNvSpPr>
            <a:spLocks noGrp="1" noChangeArrowheads="1"/>
          </p:cNvSpPr>
          <p:nvPr>
            <p:ph type="sldNum" sz="quarter" idx="10"/>
          </p:nvPr>
        </p:nvSpPr>
        <p:spPr>
          <a:ln/>
        </p:spPr>
        <p:txBody>
          <a:bodyPr/>
          <a:lstStyle>
            <a:lvl1pPr>
              <a:defRPr/>
            </a:lvl1pPr>
          </a:lstStyle>
          <a:p>
            <a:fld id="{994A9BC1-DD0B-45CE-A842-4B6BDEE4A524}" type="slidenum">
              <a:rPr lang="en-US" altLang="en-US"/>
              <a:pPr/>
              <a:t>‹#›</a:t>
            </a:fld>
            <a:endParaRPr lang="en-US" altLang="en-US"/>
          </a:p>
        </p:txBody>
      </p:sp>
    </p:spTree>
    <p:extLst>
      <p:ext uri="{BB962C8B-B14F-4D97-AF65-F5344CB8AC3E}">
        <p14:creationId xmlns:p14="http://schemas.microsoft.com/office/powerpoint/2010/main" val="3817493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11186009" y="11430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84" charset="-128"/>
              </a:defRPr>
            </a:lvl1pPr>
            <a:lvl2pPr marL="742950" indent="-285750" eaLnBrk="0" hangingPunct="0">
              <a:defRPr sz="2400">
                <a:solidFill>
                  <a:schemeClr val="tx1"/>
                </a:solidFill>
                <a:latin typeface="Arial" pitchFamily="34" charset="0"/>
                <a:ea typeface="ＭＳ Ｐゴシック" pitchFamily="-84" charset="-128"/>
              </a:defRPr>
            </a:lvl2pPr>
            <a:lvl3pPr marL="1143000" indent="-228600" eaLnBrk="0" hangingPunct="0">
              <a:defRPr sz="2400">
                <a:solidFill>
                  <a:schemeClr val="tx1"/>
                </a:solidFill>
                <a:latin typeface="Arial" pitchFamily="34" charset="0"/>
                <a:ea typeface="ＭＳ Ｐゴシック" pitchFamily="-84" charset="-128"/>
              </a:defRPr>
            </a:lvl3pPr>
            <a:lvl4pPr marL="1600200" indent="-228600" eaLnBrk="0" hangingPunct="0">
              <a:defRPr sz="2400">
                <a:solidFill>
                  <a:schemeClr val="tx1"/>
                </a:solidFill>
                <a:latin typeface="Arial" pitchFamily="34" charset="0"/>
                <a:ea typeface="ＭＳ Ｐゴシック" pitchFamily="-84" charset="-128"/>
              </a:defRPr>
            </a:lvl4pPr>
            <a:lvl5pPr marL="2057400" indent="-228600" eaLnBrk="0" hangingPunct="0">
              <a:defRPr sz="2400">
                <a:solidFill>
                  <a:schemeClr val="tx1"/>
                </a:solidFill>
                <a:latin typeface="Arial" pitchFamily="34" charset="0"/>
                <a:ea typeface="ＭＳ Ｐゴシック" pitchFamily="-84" charset="-128"/>
              </a:defRPr>
            </a:lvl5pPr>
            <a:lvl6pPr marL="2514600" indent="-228600" algn="r" eaLnBrk="0" fontAlgn="base" hangingPunct="0">
              <a:spcBef>
                <a:spcPct val="0"/>
              </a:spcBef>
              <a:spcAft>
                <a:spcPct val="0"/>
              </a:spcAft>
              <a:defRPr sz="2400">
                <a:solidFill>
                  <a:schemeClr val="tx1"/>
                </a:solidFill>
                <a:latin typeface="Arial" pitchFamily="34" charset="0"/>
                <a:ea typeface="ＭＳ Ｐゴシック" pitchFamily="-84" charset="-128"/>
              </a:defRPr>
            </a:lvl6pPr>
            <a:lvl7pPr marL="2971800" indent="-228600" algn="r" eaLnBrk="0" fontAlgn="base" hangingPunct="0">
              <a:spcBef>
                <a:spcPct val="0"/>
              </a:spcBef>
              <a:spcAft>
                <a:spcPct val="0"/>
              </a:spcAft>
              <a:defRPr sz="2400">
                <a:solidFill>
                  <a:schemeClr val="tx1"/>
                </a:solidFill>
                <a:latin typeface="Arial" pitchFamily="34" charset="0"/>
                <a:ea typeface="ＭＳ Ｐゴシック" pitchFamily="-84" charset="-128"/>
              </a:defRPr>
            </a:lvl7pPr>
            <a:lvl8pPr marL="3429000" indent="-228600" algn="r" eaLnBrk="0" fontAlgn="base" hangingPunct="0">
              <a:spcBef>
                <a:spcPct val="0"/>
              </a:spcBef>
              <a:spcAft>
                <a:spcPct val="0"/>
              </a:spcAft>
              <a:defRPr sz="2400">
                <a:solidFill>
                  <a:schemeClr val="tx1"/>
                </a:solidFill>
                <a:latin typeface="Arial" pitchFamily="34" charset="0"/>
                <a:ea typeface="ＭＳ Ｐゴシック" pitchFamily="-84" charset="-128"/>
              </a:defRPr>
            </a:lvl8pPr>
            <a:lvl9pPr marL="3886200" indent="-228600" algn="r" eaLnBrk="0" fontAlgn="base" hangingPunct="0">
              <a:spcBef>
                <a:spcPct val="0"/>
              </a:spcBef>
              <a:spcAft>
                <a:spcPct val="0"/>
              </a:spcAft>
              <a:defRPr sz="2400">
                <a:solidFill>
                  <a:schemeClr val="tx1"/>
                </a:solidFill>
                <a:latin typeface="Arial" pitchFamily="34" charset="0"/>
                <a:ea typeface="ＭＳ Ｐゴシック" pitchFamily="-84" charset="-128"/>
              </a:defRPr>
            </a:lvl9pPr>
          </a:lstStyle>
          <a:p>
            <a:pPr eaLnBrk="1" hangingPunct="1">
              <a:defRPr/>
            </a:pPr>
            <a:endParaRPr lang="en-US" altLang="en-US" sz="1800"/>
          </a:p>
        </p:txBody>
      </p:sp>
      <p:sp>
        <p:nvSpPr>
          <p:cNvPr id="3" name="Slide Number Placeholder 3"/>
          <p:cNvSpPr>
            <a:spLocks noGrp="1"/>
          </p:cNvSpPr>
          <p:nvPr>
            <p:ph type="sldNum" sz="quarter" idx="10"/>
          </p:nvPr>
        </p:nvSpPr>
        <p:spPr/>
        <p:txBody>
          <a:bodyPr/>
          <a:lstStyle>
            <a:lvl1pPr>
              <a:defRPr/>
            </a:lvl1pPr>
          </a:lstStyle>
          <a:p>
            <a:fld id="{8D2C18B7-9795-4970-A3B3-E148A262CA45}" type="slidenum">
              <a:rPr lang="en-US" altLang="en-US"/>
              <a:pPr/>
              <a:t>‹#›</a:t>
            </a:fld>
            <a:endParaRPr lang="en-US" altLang="en-US"/>
          </a:p>
        </p:txBody>
      </p:sp>
    </p:spTree>
    <p:extLst>
      <p:ext uri="{BB962C8B-B14F-4D97-AF65-F5344CB8AC3E}">
        <p14:creationId xmlns:p14="http://schemas.microsoft.com/office/powerpoint/2010/main" val="252824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fld id="{3C8932A9-4F2C-4B8C-943C-E935BDDAD6AC}" type="slidenum">
              <a:rPr lang="en-US" altLang="en-US"/>
              <a:pPr/>
              <a:t>‹#›</a:t>
            </a:fld>
            <a:endParaRPr lang="en-US" altLang="en-US"/>
          </a:p>
        </p:txBody>
      </p:sp>
    </p:spTree>
    <p:extLst>
      <p:ext uri="{BB962C8B-B14F-4D97-AF65-F5344CB8AC3E}">
        <p14:creationId xmlns:p14="http://schemas.microsoft.com/office/powerpoint/2010/main" val="3043632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1" name="Rectangle 5"/>
          <p:cNvSpPr>
            <a:spLocks noGrp="1" noChangeArrowheads="1"/>
          </p:cNvSpPr>
          <p:nvPr>
            <p:ph type="title"/>
          </p:nvPr>
        </p:nvSpPr>
        <p:spPr bwMode="auto">
          <a:xfrm>
            <a:off x="912291" y="596900"/>
            <a:ext cx="10358967"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4102" name="Rectangle 6"/>
          <p:cNvSpPr>
            <a:spLocks noGrp="1" noChangeArrowheads="1"/>
          </p:cNvSpPr>
          <p:nvPr>
            <p:ph type="body" idx="1"/>
          </p:nvPr>
        </p:nvSpPr>
        <p:spPr bwMode="auto">
          <a:xfrm>
            <a:off x="878425" y="1497013"/>
            <a:ext cx="10358967" cy="445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sp>
        <p:nvSpPr>
          <p:cNvPr id="4103" name="Rectangle 7"/>
          <p:cNvSpPr>
            <a:spLocks noGrp="1" noChangeArrowheads="1"/>
          </p:cNvSpPr>
          <p:nvPr>
            <p:ph type="sldNum" sz="quarter" idx="4"/>
          </p:nvPr>
        </p:nvSpPr>
        <p:spPr bwMode="auto">
          <a:xfrm>
            <a:off x="9596967" y="6550036"/>
            <a:ext cx="243840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0" tIns="0" rIns="0" bIns="0" numCol="1" anchor="ctr" anchorCtr="0" compatLnSpc="1">
            <a:prstTxWarp prst="textNoShape">
              <a:avLst/>
            </a:prstTxWarp>
          </a:bodyPr>
          <a:lstStyle>
            <a:lvl1pPr>
              <a:defRPr sz="1000"/>
            </a:lvl1pPr>
          </a:lstStyle>
          <a:p>
            <a:fld id="{C5D177D2-638F-4B51-B1FF-7398CBFDD69F}" type="slidenum">
              <a:rPr lang="en-US" altLang="en-US"/>
              <a:pPr/>
              <a:t>‹#›</a:t>
            </a:fld>
            <a:endParaRPr lang="en-US" altLang="en-US"/>
          </a:p>
        </p:txBody>
      </p:sp>
      <p:sp>
        <p:nvSpPr>
          <p:cNvPr id="4105" name="Rectangle 9"/>
          <p:cNvSpPr>
            <a:spLocks noChangeArrowheads="1"/>
          </p:cNvSpPr>
          <p:nvPr userDrawn="1"/>
        </p:nvSpPr>
        <p:spPr bwMode="auto">
          <a:xfrm>
            <a:off x="0" y="6318597"/>
            <a:ext cx="12192000" cy="5873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sz="1800">
                <a:latin typeface="Arial" charset="0"/>
                <a:ea typeface="ＭＳ Ｐゴシック" charset="0"/>
              </a:rPr>
              <a:t> </a:t>
            </a:r>
          </a:p>
        </p:txBody>
      </p:sp>
      <p:sp>
        <p:nvSpPr>
          <p:cNvPr id="10" name="Rectangle 6"/>
          <p:cNvSpPr>
            <a:spLocks noChangeArrowheads="1"/>
          </p:cNvSpPr>
          <p:nvPr userDrawn="1"/>
        </p:nvSpPr>
        <p:spPr bwMode="auto">
          <a:xfrm>
            <a:off x="0" y="449263"/>
            <a:ext cx="12192000" cy="587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r>
              <a:rPr lang="en-US" sz="1800" dirty="0">
                <a:latin typeface="Arial" charset="0"/>
                <a:ea typeface="ＭＳ Ｐゴシック" charset="0"/>
              </a:rPr>
              <a:t>  </a:t>
            </a:r>
          </a:p>
        </p:txBody>
      </p:sp>
      <p:sp>
        <p:nvSpPr>
          <p:cNvPr id="7" name="Text Placeholder 8"/>
          <p:cNvSpPr txBox="1">
            <a:spLocks/>
          </p:cNvSpPr>
          <p:nvPr userDrawn="1"/>
        </p:nvSpPr>
        <p:spPr>
          <a:xfrm>
            <a:off x="-78657" y="81820"/>
            <a:ext cx="5545395" cy="328530"/>
          </a:xfrm>
          <a:prstGeom prst="rect">
            <a:avLst/>
          </a:prstGeom>
        </p:spPr>
        <p:txBody>
          <a:bodyPr/>
          <a:lstStyle>
            <a:lvl1pPr marL="0" indent="0" algn="l" rtl="0" eaLnBrk="0" fontAlgn="base" hangingPunct="0">
              <a:lnSpc>
                <a:spcPts val="2800"/>
              </a:lnSpc>
              <a:spcBef>
                <a:spcPct val="0"/>
              </a:spcBef>
              <a:spcAft>
                <a:spcPct val="30000"/>
              </a:spcAft>
              <a:buFont typeface="Wingdings" panose="05000000000000000000" pitchFamily="2" charset="2"/>
              <a:buNone/>
              <a:defRPr sz="2400">
                <a:solidFill>
                  <a:schemeClr val="accent1"/>
                </a:solidFill>
                <a:latin typeface="+mn-lt"/>
                <a:ea typeface="+mn-ea"/>
                <a:cs typeface="ＭＳ Ｐゴシック" charset="0"/>
              </a:defRPr>
            </a:lvl1pPr>
            <a:lvl2pPr marL="514350" indent="-114300" algn="l" rtl="0" eaLnBrk="0" fontAlgn="base" hangingPunct="0">
              <a:lnSpc>
                <a:spcPts val="2200"/>
              </a:lnSpc>
              <a:spcBef>
                <a:spcPct val="10000"/>
              </a:spcBef>
              <a:spcAft>
                <a:spcPct val="30000"/>
              </a:spcAft>
              <a:buSzPct val="80000"/>
              <a:buFont typeface="Wingdings" panose="05000000000000000000" pitchFamily="2" charset="2"/>
              <a:buChar char="p"/>
              <a:defRPr sz="2000">
                <a:solidFill>
                  <a:schemeClr val="tx1"/>
                </a:solidFill>
                <a:latin typeface="+mn-lt"/>
                <a:ea typeface="+mn-ea"/>
                <a:cs typeface="ＭＳ Ｐゴシック" charset="0"/>
              </a:defRPr>
            </a:lvl2pPr>
            <a:lvl3pPr marL="1023938" indent="-285750" algn="l" rtl="0" eaLnBrk="0" fontAlgn="base" hangingPunct="0">
              <a:lnSpc>
                <a:spcPts val="2000"/>
              </a:lnSpc>
              <a:spcBef>
                <a:spcPct val="10000"/>
              </a:spcBef>
              <a:spcAft>
                <a:spcPct val="30000"/>
              </a:spcAft>
              <a:buSzPct val="80000"/>
              <a:buFont typeface="Wingdings" panose="05000000000000000000" pitchFamily="2" charset="2"/>
              <a:buChar char="n"/>
              <a:defRPr>
                <a:solidFill>
                  <a:schemeClr val="accent2"/>
                </a:solidFill>
                <a:latin typeface="+mn-lt"/>
                <a:ea typeface="+mn-ea"/>
                <a:cs typeface="ＭＳ Ｐゴシック" charset="0"/>
              </a:defRPr>
            </a:lvl3pPr>
            <a:lvl4pPr marL="1200150" indent="-114300" algn="l" rtl="0" eaLnBrk="0" fontAlgn="base" hangingPunct="0">
              <a:lnSpc>
                <a:spcPts val="1800"/>
              </a:lnSpc>
              <a:spcBef>
                <a:spcPct val="10000"/>
              </a:spcBef>
              <a:spcAft>
                <a:spcPct val="30000"/>
              </a:spcAft>
              <a:buSzPct val="80000"/>
              <a:buChar char="•"/>
              <a:defRPr sz="1600">
                <a:solidFill>
                  <a:schemeClr val="accent2"/>
                </a:solidFill>
                <a:latin typeface="+mn-lt"/>
                <a:ea typeface="+mn-ea"/>
                <a:cs typeface="ＭＳ Ｐゴシック" charset="0"/>
              </a:defRPr>
            </a:lvl4pPr>
            <a:lvl5pPr marL="1428750" indent="-1252538" algn="l" rtl="0" eaLnBrk="0" fontAlgn="base" hangingPunct="0">
              <a:lnSpc>
                <a:spcPts val="1600"/>
              </a:lnSpc>
              <a:spcBef>
                <a:spcPct val="10000"/>
              </a:spcBef>
              <a:spcAft>
                <a:spcPct val="30000"/>
              </a:spcAft>
              <a:buSzPct val="80000"/>
              <a:buNone/>
              <a:defRPr sz="1400" baseline="0">
                <a:solidFill>
                  <a:schemeClr val="accent2"/>
                </a:solidFill>
                <a:latin typeface="+mn-lt"/>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a:lstStyle>
          <a:p>
            <a:pPr lvl="4"/>
            <a:r>
              <a:rPr lang="en-US" altLang="zh-TW" kern="0" dirty="0"/>
              <a:t>Computer</a:t>
            </a:r>
            <a:r>
              <a:rPr lang="en-US" altLang="zh-TW" kern="0" baseline="0" dirty="0"/>
              <a:t> Security Capstone, Spring 2026</a:t>
            </a:r>
            <a:endParaRPr lang="en-US" altLang="zh-TW" kern="0" dirty="0"/>
          </a:p>
        </p:txBody>
      </p:sp>
      <p:sp>
        <p:nvSpPr>
          <p:cNvPr id="8" name="Text Placeholder 8"/>
          <p:cNvSpPr txBox="1">
            <a:spLocks/>
          </p:cNvSpPr>
          <p:nvPr userDrawn="1"/>
        </p:nvSpPr>
        <p:spPr>
          <a:xfrm>
            <a:off x="9736931" y="81820"/>
            <a:ext cx="4881120" cy="296871"/>
          </a:xfrm>
          <a:prstGeom prst="rect">
            <a:avLst/>
          </a:prstGeom>
        </p:spPr>
        <p:txBody>
          <a:bodyPr/>
          <a:lstStyle>
            <a:lvl1pPr marL="0" indent="0" algn="l" rtl="0" eaLnBrk="0" fontAlgn="base" hangingPunct="0">
              <a:lnSpc>
                <a:spcPts val="2800"/>
              </a:lnSpc>
              <a:spcBef>
                <a:spcPct val="0"/>
              </a:spcBef>
              <a:spcAft>
                <a:spcPct val="30000"/>
              </a:spcAft>
              <a:buFont typeface="Wingdings" panose="05000000000000000000" pitchFamily="2" charset="2"/>
              <a:buNone/>
              <a:defRPr sz="2400">
                <a:solidFill>
                  <a:schemeClr val="accent1"/>
                </a:solidFill>
                <a:latin typeface="+mn-lt"/>
                <a:ea typeface="+mn-ea"/>
                <a:cs typeface="ＭＳ Ｐゴシック" charset="0"/>
              </a:defRPr>
            </a:lvl1pPr>
            <a:lvl2pPr marL="514350" indent="-114300" algn="l" rtl="0" eaLnBrk="0" fontAlgn="base" hangingPunct="0">
              <a:lnSpc>
                <a:spcPts val="2200"/>
              </a:lnSpc>
              <a:spcBef>
                <a:spcPct val="10000"/>
              </a:spcBef>
              <a:spcAft>
                <a:spcPct val="30000"/>
              </a:spcAft>
              <a:buSzPct val="80000"/>
              <a:buFont typeface="Wingdings" panose="05000000000000000000" pitchFamily="2" charset="2"/>
              <a:buChar char="p"/>
              <a:defRPr sz="2000">
                <a:solidFill>
                  <a:schemeClr val="tx1"/>
                </a:solidFill>
                <a:latin typeface="+mn-lt"/>
                <a:ea typeface="+mn-ea"/>
                <a:cs typeface="ＭＳ Ｐゴシック" charset="0"/>
              </a:defRPr>
            </a:lvl2pPr>
            <a:lvl3pPr marL="1023938" indent="-285750" algn="l" rtl="0" eaLnBrk="0" fontAlgn="base" hangingPunct="0">
              <a:lnSpc>
                <a:spcPts val="2000"/>
              </a:lnSpc>
              <a:spcBef>
                <a:spcPct val="10000"/>
              </a:spcBef>
              <a:spcAft>
                <a:spcPct val="30000"/>
              </a:spcAft>
              <a:buSzPct val="80000"/>
              <a:buFont typeface="Wingdings" panose="05000000000000000000" pitchFamily="2" charset="2"/>
              <a:buChar char="n"/>
              <a:defRPr>
                <a:solidFill>
                  <a:schemeClr val="accent2"/>
                </a:solidFill>
                <a:latin typeface="+mn-lt"/>
                <a:ea typeface="+mn-ea"/>
                <a:cs typeface="ＭＳ Ｐゴシック" charset="0"/>
              </a:defRPr>
            </a:lvl3pPr>
            <a:lvl4pPr marL="1200150" indent="-114300" algn="l" rtl="0" eaLnBrk="0" fontAlgn="base" hangingPunct="0">
              <a:lnSpc>
                <a:spcPts val="1800"/>
              </a:lnSpc>
              <a:spcBef>
                <a:spcPct val="10000"/>
              </a:spcBef>
              <a:spcAft>
                <a:spcPct val="30000"/>
              </a:spcAft>
              <a:buSzPct val="80000"/>
              <a:buChar char="•"/>
              <a:defRPr sz="1600">
                <a:solidFill>
                  <a:schemeClr val="accent2"/>
                </a:solidFill>
                <a:latin typeface="+mn-lt"/>
                <a:ea typeface="+mn-ea"/>
                <a:cs typeface="ＭＳ Ｐゴシック" charset="0"/>
              </a:defRPr>
            </a:lvl4pPr>
            <a:lvl5pPr marL="1428750" indent="-1252538" algn="l" rtl="0" eaLnBrk="0" fontAlgn="base" hangingPunct="0">
              <a:lnSpc>
                <a:spcPts val="1600"/>
              </a:lnSpc>
              <a:spcBef>
                <a:spcPct val="10000"/>
              </a:spcBef>
              <a:spcAft>
                <a:spcPct val="30000"/>
              </a:spcAft>
              <a:buSzPct val="80000"/>
              <a:buNone/>
              <a:defRPr sz="1400" baseline="0">
                <a:solidFill>
                  <a:schemeClr val="accent2"/>
                </a:solidFill>
                <a:latin typeface="+mn-lt"/>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a:lstStyle>
          <a:p>
            <a:pPr lvl="4"/>
            <a:r>
              <a:rPr lang="en-US" altLang="zh-TW" kern="0" dirty="0"/>
              <a:t>Instructor: Prof.</a:t>
            </a:r>
            <a:r>
              <a:rPr lang="en-US" altLang="zh-TW" kern="0" baseline="0" dirty="0"/>
              <a:t> </a:t>
            </a:r>
            <a:r>
              <a:rPr lang="en-US" altLang="zh-TW" kern="0" dirty="0"/>
              <a:t>Chi-Yu Li</a:t>
            </a:r>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21" r:id="rId3"/>
    <p:sldLayoutId id="2147484222" r:id="rId4"/>
    <p:sldLayoutId id="2147484214" r:id="rId5"/>
    <p:sldLayoutId id="2147484215" r:id="rId6"/>
    <p:sldLayoutId id="2147484216" r:id="rId7"/>
    <p:sldLayoutId id="2147484217" r:id="rId8"/>
    <p:sldLayoutId id="2147484218" r:id="rId9"/>
    <p:sldLayoutId id="2147484219" r:id="rId10"/>
    <p:sldLayoutId id="2147484223" r:id="rId11"/>
    <p:sldLayoutId id="2147484220" r:id="rId12"/>
  </p:sldLayoutIdLst>
  <p:hf hdr="0" ftr="0" dt="0"/>
  <p:txStyles>
    <p:titleStyle>
      <a:lvl1pPr algn="l" rtl="0" eaLnBrk="0" fontAlgn="base" hangingPunct="0">
        <a:spcBef>
          <a:spcPct val="0"/>
        </a:spcBef>
        <a:spcAft>
          <a:spcPct val="0"/>
        </a:spcAft>
        <a:defRPr sz="4000">
          <a:solidFill>
            <a:schemeClr val="tx1"/>
          </a:solidFill>
          <a:latin typeface="Times"/>
          <a:ea typeface="+mj-ea"/>
          <a:cs typeface="ＭＳ Ｐゴシック" charset="0"/>
        </a:defRPr>
      </a:lvl1pPr>
      <a:lvl2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2pPr>
      <a:lvl3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3pPr>
      <a:lvl4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4pPr>
      <a:lvl5pPr algn="l" rtl="0" eaLnBrk="0" fontAlgn="base" hangingPunct="0">
        <a:spcBef>
          <a:spcPct val="0"/>
        </a:spcBef>
        <a:spcAft>
          <a:spcPct val="0"/>
        </a:spcAft>
        <a:defRPr sz="3200">
          <a:solidFill>
            <a:schemeClr val="tx1"/>
          </a:solidFill>
          <a:latin typeface="Times" charset="0"/>
          <a:ea typeface="ＭＳ Ｐゴシック" charset="0"/>
          <a:cs typeface="ＭＳ Ｐゴシック" charset="0"/>
        </a:defRPr>
      </a:lvl5pPr>
      <a:lvl6pPr marL="457200" algn="l" rtl="0" fontAlgn="base">
        <a:spcBef>
          <a:spcPct val="0"/>
        </a:spcBef>
        <a:spcAft>
          <a:spcPct val="0"/>
        </a:spcAft>
        <a:defRPr sz="3200">
          <a:solidFill>
            <a:schemeClr val="tx1"/>
          </a:solidFill>
          <a:latin typeface="Arial" charset="0"/>
          <a:ea typeface="ＭＳ Ｐゴシック" charset="0"/>
        </a:defRPr>
      </a:lvl6pPr>
      <a:lvl7pPr marL="914400" algn="l" rtl="0" fontAlgn="base">
        <a:spcBef>
          <a:spcPct val="0"/>
        </a:spcBef>
        <a:spcAft>
          <a:spcPct val="0"/>
        </a:spcAft>
        <a:defRPr sz="3200">
          <a:solidFill>
            <a:schemeClr val="tx1"/>
          </a:solidFill>
          <a:latin typeface="Arial" charset="0"/>
          <a:ea typeface="ＭＳ Ｐゴシック" charset="0"/>
        </a:defRPr>
      </a:lvl7pPr>
      <a:lvl8pPr marL="1371600" algn="l" rtl="0" fontAlgn="base">
        <a:spcBef>
          <a:spcPct val="0"/>
        </a:spcBef>
        <a:spcAft>
          <a:spcPct val="0"/>
        </a:spcAft>
        <a:defRPr sz="3200">
          <a:solidFill>
            <a:schemeClr val="tx1"/>
          </a:solidFill>
          <a:latin typeface="Arial" charset="0"/>
          <a:ea typeface="ＭＳ Ｐゴシック" charset="0"/>
        </a:defRPr>
      </a:lvl8pPr>
      <a:lvl9pPr marL="1828800" algn="l" rtl="0" fontAlgn="base">
        <a:spcBef>
          <a:spcPct val="0"/>
        </a:spcBef>
        <a:spcAft>
          <a:spcPct val="0"/>
        </a:spcAft>
        <a:defRPr sz="3200">
          <a:solidFill>
            <a:schemeClr val="tx1"/>
          </a:solidFill>
          <a:latin typeface="Arial" charset="0"/>
          <a:ea typeface="ＭＳ Ｐゴシック" charset="0"/>
        </a:defRPr>
      </a:lvl9pPr>
    </p:titleStyle>
    <p:bodyStyle>
      <a:lvl1pPr marL="342900" indent="-342900" algn="l" rtl="0" eaLnBrk="0" fontAlgn="base" hangingPunct="0">
        <a:lnSpc>
          <a:spcPct val="100000"/>
        </a:lnSpc>
        <a:spcBef>
          <a:spcPct val="0"/>
        </a:spcBef>
        <a:spcAft>
          <a:spcPts val="0"/>
        </a:spcAft>
        <a:buFont typeface="Wingdings" panose="05000000000000000000" pitchFamily="2" charset="2"/>
        <a:buChar char="l"/>
        <a:defRPr sz="2800">
          <a:solidFill>
            <a:schemeClr val="accent1"/>
          </a:solidFill>
          <a:latin typeface="+mn-lt"/>
          <a:ea typeface="+mn-ea"/>
          <a:cs typeface="ＭＳ Ｐゴシック" charset="0"/>
        </a:defRPr>
      </a:lvl1pPr>
      <a:lvl2pPr marL="514350" indent="-114300" algn="l" rtl="0" eaLnBrk="0" fontAlgn="base" hangingPunct="0">
        <a:lnSpc>
          <a:spcPct val="100000"/>
        </a:lnSpc>
        <a:spcBef>
          <a:spcPct val="10000"/>
        </a:spcBef>
        <a:spcAft>
          <a:spcPts val="0"/>
        </a:spcAft>
        <a:buSzPct val="80000"/>
        <a:buFont typeface="Wingdings" panose="05000000000000000000" pitchFamily="2" charset="2"/>
        <a:buChar char="p"/>
        <a:defRPr sz="2400">
          <a:solidFill>
            <a:schemeClr val="tx1"/>
          </a:solidFill>
          <a:latin typeface="+mn-lt"/>
          <a:ea typeface="+mn-ea"/>
          <a:cs typeface="ＭＳ Ｐゴシック" charset="0"/>
        </a:defRPr>
      </a:lvl2pPr>
      <a:lvl3pPr marL="1023938" indent="-285750" algn="l" rtl="0" eaLnBrk="0" fontAlgn="base" hangingPunct="0">
        <a:lnSpc>
          <a:spcPct val="100000"/>
        </a:lnSpc>
        <a:spcBef>
          <a:spcPct val="10000"/>
        </a:spcBef>
        <a:spcAft>
          <a:spcPts val="0"/>
        </a:spcAft>
        <a:buSzPct val="80000"/>
        <a:buFont typeface="Wingdings" panose="05000000000000000000" pitchFamily="2" charset="2"/>
        <a:buChar char="n"/>
        <a:defRPr sz="2000">
          <a:solidFill>
            <a:schemeClr val="accent2"/>
          </a:solidFill>
          <a:latin typeface="+mn-lt"/>
          <a:ea typeface="+mn-ea"/>
          <a:cs typeface="ＭＳ Ｐゴシック" charset="0"/>
        </a:defRPr>
      </a:lvl3pPr>
      <a:lvl4pPr marL="1200150" indent="-114300" algn="l" rtl="0" eaLnBrk="0" fontAlgn="base" hangingPunct="0">
        <a:lnSpc>
          <a:spcPct val="100000"/>
        </a:lnSpc>
        <a:spcBef>
          <a:spcPct val="10000"/>
        </a:spcBef>
        <a:spcAft>
          <a:spcPts val="0"/>
        </a:spcAft>
        <a:buSzPct val="80000"/>
        <a:buChar char="•"/>
        <a:defRPr sz="1600">
          <a:solidFill>
            <a:schemeClr val="accent2"/>
          </a:solidFill>
          <a:latin typeface="+mn-lt"/>
          <a:ea typeface="+mn-ea"/>
          <a:cs typeface="ＭＳ Ｐゴシック" charset="0"/>
        </a:defRPr>
      </a:lvl4pPr>
      <a:lvl5pPr marL="1543050" indent="-114300" algn="l" rtl="0" eaLnBrk="0" fontAlgn="base" hangingPunct="0">
        <a:lnSpc>
          <a:spcPct val="100000"/>
        </a:lnSpc>
        <a:spcBef>
          <a:spcPct val="10000"/>
        </a:spcBef>
        <a:spcAft>
          <a:spcPts val="0"/>
        </a:spcAft>
        <a:buSzPct val="80000"/>
        <a:buChar char="•"/>
        <a:defRPr sz="1400">
          <a:solidFill>
            <a:schemeClr val="accent2"/>
          </a:solidFill>
          <a:latin typeface="+mn-lt"/>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140.113.207.249:8080/kem/public-ke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140.113.207.249:8080/kem/decapsulat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open-quantum-safe/oqs-provider/blob/main/USAGE.md"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sz="quarter"/>
          </p:nvPr>
        </p:nvSpPr>
        <p:spPr>
          <a:xfrm>
            <a:off x="795130" y="893563"/>
            <a:ext cx="10601740" cy="2875720"/>
          </a:xfrm>
        </p:spPr>
        <p:txBody>
          <a:bodyPr/>
          <a:lstStyle/>
          <a:p>
            <a:pPr algn="ctr">
              <a:defRPr/>
            </a:pPr>
            <a:r>
              <a:rPr lang="en-US" sz="4000" b="1" dirty="0">
                <a:solidFill>
                  <a:srgbClr val="002060"/>
                </a:solidFill>
                <a:effectLst>
                  <a:outerShdw blurRad="38100" dist="38100" dir="2700000" algn="tl">
                    <a:srgbClr val="000000">
                      <a:alpha val="43137"/>
                    </a:srgbClr>
                  </a:outerShdw>
                </a:effectLst>
                <a:latin typeface="Trebuchet MS" panose="020B0603020202020204" pitchFamily="34" charset="0"/>
              </a:rPr>
              <a:t>Computer Security Capstone</a:t>
            </a:r>
            <a:br>
              <a:rPr lang="en-US" sz="4000" b="1" dirty="0">
                <a:solidFill>
                  <a:srgbClr val="002060"/>
                </a:solidFill>
                <a:effectLst>
                  <a:outerShdw blurRad="38100" dist="38100" dir="2700000" algn="tl">
                    <a:srgbClr val="000000">
                      <a:alpha val="43137"/>
                    </a:srgbClr>
                  </a:outerShdw>
                </a:effectLst>
                <a:latin typeface="Trebuchet MS" panose="020B0603020202020204" pitchFamily="34" charset="0"/>
              </a:rPr>
            </a:br>
            <a:br>
              <a:rPr lang="en-US" dirty="0">
                <a:solidFill>
                  <a:srgbClr val="002060"/>
                </a:solidFill>
                <a:latin typeface="Trebuchet MS" panose="020B0603020202020204" pitchFamily="34" charset="0"/>
              </a:rPr>
            </a:br>
            <a:r>
              <a:rPr lang="en-US" dirty="0">
                <a:solidFill>
                  <a:srgbClr val="CC3300"/>
                </a:solidFill>
                <a:latin typeface="Calibri" panose="020F0502020204030204" pitchFamily="34" charset="0"/>
                <a:cs typeface="Calibri" panose="020F0502020204030204" pitchFamily="34" charset="0"/>
              </a:rPr>
              <a:t>Project III: Ransomware Propagation and Payload</a:t>
            </a:r>
          </a:p>
        </p:txBody>
      </p:sp>
      <p:sp>
        <p:nvSpPr>
          <p:cNvPr id="4" name="Subtitle 2"/>
          <p:cNvSpPr txBox="1">
            <a:spLocks/>
          </p:cNvSpPr>
          <p:nvPr/>
        </p:nvSpPr>
        <p:spPr>
          <a:xfrm>
            <a:off x="2549891" y="4465981"/>
            <a:ext cx="6886953" cy="1578099"/>
          </a:xfrm>
          <a:prstGeom prst="rect">
            <a:avLst/>
          </a:prstGeom>
        </p:spPr>
        <p:txBody>
          <a:bodyPr>
            <a:normAutofit/>
          </a:bodyPr>
          <a:lstStyle>
            <a:lvl1pPr marL="176213" indent="-176213" algn="l" rtl="0" eaLnBrk="0" fontAlgn="base" hangingPunct="0">
              <a:lnSpc>
                <a:spcPts val="2800"/>
              </a:lnSpc>
              <a:spcBef>
                <a:spcPct val="0"/>
              </a:spcBef>
              <a:spcAft>
                <a:spcPct val="30000"/>
              </a:spcAft>
              <a:buChar char="•"/>
              <a:defRPr sz="2400">
                <a:solidFill>
                  <a:schemeClr val="accent1"/>
                </a:solidFill>
                <a:latin typeface="+mn-lt"/>
                <a:ea typeface="+mn-ea"/>
                <a:cs typeface="ＭＳ Ｐゴシック" charset="0"/>
              </a:defRPr>
            </a:lvl1pPr>
            <a:lvl2pPr marL="514350" indent="-114300" algn="l" rtl="0" eaLnBrk="0" fontAlgn="base" hangingPunct="0">
              <a:lnSpc>
                <a:spcPts val="2200"/>
              </a:lnSpc>
              <a:spcBef>
                <a:spcPct val="10000"/>
              </a:spcBef>
              <a:spcAft>
                <a:spcPct val="30000"/>
              </a:spcAft>
              <a:buSzPct val="80000"/>
              <a:buChar char="•"/>
              <a:defRPr sz="2000">
                <a:solidFill>
                  <a:schemeClr val="tx1"/>
                </a:solidFill>
                <a:latin typeface="+mn-lt"/>
                <a:ea typeface="+mn-ea"/>
                <a:cs typeface="ＭＳ Ｐゴシック" charset="0"/>
              </a:defRPr>
            </a:lvl2pPr>
            <a:lvl3pPr marL="855663" indent="-117475" algn="l" rtl="0" eaLnBrk="0" fontAlgn="base" hangingPunct="0">
              <a:lnSpc>
                <a:spcPts val="2000"/>
              </a:lnSpc>
              <a:spcBef>
                <a:spcPct val="10000"/>
              </a:spcBef>
              <a:spcAft>
                <a:spcPct val="30000"/>
              </a:spcAft>
              <a:buSzPct val="80000"/>
              <a:buChar char="•"/>
              <a:defRPr>
                <a:solidFill>
                  <a:schemeClr val="accent2"/>
                </a:solidFill>
                <a:latin typeface="+mn-lt"/>
                <a:ea typeface="+mn-ea"/>
                <a:cs typeface="ＭＳ Ｐゴシック" charset="0"/>
              </a:defRPr>
            </a:lvl3pPr>
            <a:lvl4pPr marL="1200150" indent="-114300" algn="l" rtl="0" eaLnBrk="0" fontAlgn="base" hangingPunct="0">
              <a:lnSpc>
                <a:spcPts val="1800"/>
              </a:lnSpc>
              <a:spcBef>
                <a:spcPct val="10000"/>
              </a:spcBef>
              <a:spcAft>
                <a:spcPct val="30000"/>
              </a:spcAft>
              <a:buSzPct val="80000"/>
              <a:buChar char="•"/>
              <a:defRPr sz="1600">
                <a:solidFill>
                  <a:schemeClr val="accent2"/>
                </a:solidFill>
                <a:latin typeface="+mn-lt"/>
                <a:ea typeface="+mn-ea"/>
                <a:cs typeface="ＭＳ Ｐゴシック" charset="0"/>
              </a:defRPr>
            </a:lvl4pPr>
            <a:lvl5pPr marL="1543050" indent="-114300" algn="l" rtl="0" eaLnBrk="0" fontAlgn="base" hangingPunct="0">
              <a:lnSpc>
                <a:spcPts val="1600"/>
              </a:lnSpc>
              <a:spcBef>
                <a:spcPct val="10000"/>
              </a:spcBef>
              <a:spcAft>
                <a:spcPct val="30000"/>
              </a:spcAft>
              <a:buSzPct val="80000"/>
              <a:buChar char="•"/>
              <a:defRPr sz="1400">
                <a:solidFill>
                  <a:schemeClr val="accent2"/>
                </a:solidFill>
                <a:latin typeface="+mn-lt"/>
                <a:ea typeface="+mn-ea"/>
                <a:cs typeface="ＭＳ Ｐゴシック" charset="0"/>
              </a:defRPr>
            </a:lvl5pPr>
            <a:lvl6pPr marL="2000250" indent="-114300" algn="l" rtl="0" fontAlgn="base">
              <a:lnSpc>
                <a:spcPts val="1600"/>
              </a:lnSpc>
              <a:spcBef>
                <a:spcPct val="10000"/>
              </a:spcBef>
              <a:spcAft>
                <a:spcPct val="30000"/>
              </a:spcAft>
              <a:buSzPct val="80000"/>
              <a:buChar char="•"/>
              <a:defRPr sz="1400">
                <a:solidFill>
                  <a:schemeClr val="accent2"/>
                </a:solidFill>
                <a:latin typeface="+mn-lt"/>
                <a:ea typeface="+mn-ea"/>
              </a:defRPr>
            </a:lvl6pPr>
            <a:lvl7pPr marL="2457450" indent="-114300" algn="l" rtl="0" fontAlgn="base">
              <a:lnSpc>
                <a:spcPts val="1600"/>
              </a:lnSpc>
              <a:spcBef>
                <a:spcPct val="10000"/>
              </a:spcBef>
              <a:spcAft>
                <a:spcPct val="30000"/>
              </a:spcAft>
              <a:buSzPct val="80000"/>
              <a:buChar char="•"/>
              <a:defRPr sz="1400">
                <a:solidFill>
                  <a:schemeClr val="accent2"/>
                </a:solidFill>
                <a:latin typeface="+mn-lt"/>
                <a:ea typeface="+mn-ea"/>
              </a:defRPr>
            </a:lvl7pPr>
            <a:lvl8pPr marL="2914650" indent="-114300" algn="l" rtl="0" fontAlgn="base">
              <a:lnSpc>
                <a:spcPts val="1600"/>
              </a:lnSpc>
              <a:spcBef>
                <a:spcPct val="10000"/>
              </a:spcBef>
              <a:spcAft>
                <a:spcPct val="30000"/>
              </a:spcAft>
              <a:buSzPct val="80000"/>
              <a:buChar char="•"/>
              <a:defRPr sz="1400">
                <a:solidFill>
                  <a:schemeClr val="accent2"/>
                </a:solidFill>
                <a:latin typeface="+mn-lt"/>
                <a:ea typeface="+mn-ea"/>
              </a:defRPr>
            </a:lvl8pPr>
            <a:lvl9pPr marL="3371850" indent="-114300" algn="l" rtl="0" fontAlgn="base">
              <a:lnSpc>
                <a:spcPts val="1600"/>
              </a:lnSpc>
              <a:spcBef>
                <a:spcPct val="10000"/>
              </a:spcBef>
              <a:spcAft>
                <a:spcPct val="30000"/>
              </a:spcAft>
              <a:buSzPct val="80000"/>
              <a:buChar char="•"/>
              <a:defRPr sz="1400">
                <a:solidFill>
                  <a:schemeClr val="accent2"/>
                </a:solidFill>
                <a:latin typeface="+mn-lt"/>
                <a:ea typeface="+mn-ea"/>
              </a:defRPr>
            </a:lvl9pPr>
          </a:lstStyle>
          <a:p>
            <a:pPr marL="0" indent="0" algn="ctr">
              <a:buNone/>
            </a:pPr>
            <a:r>
              <a:rPr lang="en-US" altLang="zh-TW" sz="3000" kern="0" dirty="0">
                <a:solidFill>
                  <a:schemeClr val="tx1"/>
                </a:solidFill>
                <a:latin typeface="Trebuchet MS" panose="020B0603020202020204" pitchFamily="34" charset="0"/>
                <a:cs typeface="Calibri" panose="020F0502020204030204" pitchFamily="34" charset="0"/>
              </a:rPr>
              <a:t>Chi-Yu Li	(2026 Spring)</a:t>
            </a:r>
          </a:p>
          <a:p>
            <a:pPr marL="0" indent="0" algn="ctr">
              <a:buNone/>
            </a:pPr>
            <a:r>
              <a:rPr lang="en-US" altLang="zh-TW" sz="2800" kern="0" dirty="0">
                <a:solidFill>
                  <a:schemeClr val="tx1"/>
                </a:solidFill>
                <a:latin typeface="Trebuchet MS" panose="020B0603020202020204" pitchFamily="34" charset="0"/>
                <a:cs typeface="Calibri" panose="020F0502020204030204" pitchFamily="34" charset="0"/>
              </a:rPr>
              <a:t>Computer Science Department</a:t>
            </a:r>
          </a:p>
          <a:p>
            <a:pPr marL="0" indent="0" algn="ctr">
              <a:buNone/>
            </a:pPr>
            <a:r>
              <a:rPr lang="en-US" altLang="zh-TW" sz="2800" kern="0" dirty="0">
                <a:solidFill>
                  <a:schemeClr val="tx1"/>
                </a:solidFill>
                <a:latin typeface="Trebuchet MS" panose="020B0603020202020204" pitchFamily="34" charset="0"/>
                <a:cs typeface="Calibri" panose="020F0502020204030204" pitchFamily="34" charset="0"/>
              </a:rPr>
              <a:t>National Yang Ming </a:t>
            </a:r>
            <a:r>
              <a:rPr lang="en-US" altLang="zh-TW" sz="2800" kern="0" dirty="0" err="1">
                <a:solidFill>
                  <a:schemeClr val="tx1"/>
                </a:solidFill>
                <a:latin typeface="Trebuchet MS" panose="020B0603020202020204" pitchFamily="34" charset="0"/>
                <a:cs typeface="Calibri" panose="020F0502020204030204" pitchFamily="34" charset="0"/>
              </a:rPr>
              <a:t>Chiao</a:t>
            </a:r>
            <a:r>
              <a:rPr lang="en-US" altLang="zh-TW" sz="2800" kern="0" dirty="0">
                <a:solidFill>
                  <a:schemeClr val="tx1"/>
                </a:solidFill>
                <a:latin typeface="Trebuchet MS" panose="020B0603020202020204" pitchFamily="34" charset="0"/>
                <a:cs typeface="Calibri" panose="020F0502020204030204" pitchFamily="34" charset="0"/>
              </a:rPr>
              <a:t> Tung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291" y="1649506"/>
            <a:ext cx="10325101" cy="4611594"/>
          </a:xfrm>
        </p:spPr>
        <p:txBody>
          <a:bodyPr/>
          <a:lstStyle/>
          <a:p>
            <a:r>
              <a:rPr lang="en-US" dirty="0">
                <a:solidFill>
                  <a:srgbClr val="0E3F96"/>
                </a:solidFill>
              </a:rPr>
              <a:t>Understand how a ransomware propagates and executes</a:t>
            </a:r>
          </a:p>
          <a:p>
            <a:endParaRPr lang="en-US" dirty="0"/>
          </a:p>
          <a:p>
            <a:endParaRPr lang="en-US" dirty="0">
              <a:solidFill>
                <a:srgbClr val="0E3F96"/>
              </a:solidFill>
            </a:endParaRPr>
          </a:p>
          <a:p>
            <a:r>
              <a:rPr lang="en-US" dirty="0">
                <a:solidFill>
                  <a:srgbClr val="0E3F96"/>
                </a:solidFill>
              </a:rPr>
              <a:t>You will learn </a:t>
            </a:r>
            <a:r>
              <a:rPr lang="en-US" altLang="zh-TW" dirty="0">
                <a:solidFill>
                  <a:srgbClr val="0E3F96"/>
                </a:solidFill>
              </a:rPr>
              <a:t>about the operation of</a:t>
            </a:r>
            <a:endParaRPr lang="en-US" dirty="0">
              <a:solidFill>
                <a:srgbClr val="0E3F96"/>
              </a:solidFill>
            </a:endParaRPr>
          </a:p>
          <a:p>
            <a:pPr lvl="1"/>
            <a:r>
              <a:rPr lang="en-US" dirty="0"/>
              <a:t> Dictionary attacks</a:t>
            </a:r>
          </a:p>
          <a:p>
            <a:pPr lvl="1"/>
            <a:r>
              <a:rPr lang="en-US" dirty="0"/>
              <a:t> Ciphering and deciphering</a:t>
            </a:r>
          </a:p>
          <a:p>
            <a:pPr lvl="1"/>
            <a:r>
              <a:rPr lang="en-US" dirty="0"/>
              <a:t> Digital signature</a:t>
            </a:r>
          </a:p>
          <a:p>
            <a:pPr lvl="1"/>
            <a:r>
              <a:rPr lang="en-US" dirty="0"/>
              <a:t> Compressed viruses</a:t>
            </a:r>
          </a:p>
          <a:p>
            <a:pPr lvl="1"/>
            <a:r>
              <a:rPr lang="en-US" dirty="0"/>
              <a:t> Worm propagation</a:t>
            </a:r>
          </a:p>
          <a:p>
            <a:pPr lvl="1"/>
            <a:r>
              <a:rPr lang="en-US" dirty="0"/>
              <a:t> Ransomware</a:t>
            </a:r>
          </a:p>
          <a:p>
            <a:pPr lvl="1"/>
            <a:r>
              <a:rPr lang="zh-TW" altLang="en-US" dirty="0"/>
              <a:t> </a:t>
            </a:r>
            <a:r>
              <a:rPr lang="en-US" altLang="zh-TW" dirty="0"/>
              <a:t>PQC - KEM</a:t>
            </a:r>
            <a:endParaRPr lang="en-US" dirty="0"/>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2</a:t>
            </a:fld>
            <a:endParaRPr lang="en-US" altLang="en-US" dirty="0"/>
          </a:p>
        </p:txBody>
      </p:sp>
      <p:sp>
        <p:nvSpPr>
          <p:cNvPr id="4" name="Title 3"/>
          <p:cNvSpPr>
            <a:spLocks noGrp="1"/>
          </p:cNvSpPr>
          <p:nvPr>
            <p:ph type="title"/>
          </p:nvPr>
        </p:nvSpPr>
        <p:spPr/>
        <p:txBody>
          <a:bodyPr/>
          <a:lstStyle/>
          <a:p>
            <a:r>
              <a:rPr lang="en-US" dirty="0"/>
              <a:t>Goals</a:t>
            </a:r>
          </a:p>
        </p:txBody>
      </p:sp>
    </p:spTree>
    <p:extLst>
      <p:ext uri="{BB962C8B-B14F-4D97-AF65-F5344CB8AC3E}">
        <p14:creationId xmlns:p14="http://schemas.microsoft.com/office/powerpoint/2010/main" val="54713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8D3C0205-A4ED-49FA-A528-855184B0DC67}" type="slidenum">
              <a:rPr lang="en-US" altLang="en-US" smtClean="0"/>
              <a:pPr/>
              <a:t>3</a:t>
            </a:fld>
            <a:endParaRPr lang="en-US" altLang="en-US" dirty="0"/>
          </a:p>
        </p:txBody>
      </p:sp>
      <p:sp>
        <p:nvSpPr>
          <p:cNvPr id="4" name="Title 3"/>
          <p:cNvSpPr>
            <a:spLocks noGrp="1"/>
          </p:cNvSpPr>
          <p:nvPr>
            <p:ph type="title"/>
          </p:nvPr>
        </p:nvSpPr>
        <p:spPr/>
        <p:txBody>
          <a:bodyPr/>
          <a:lstStyle/>
          <a:p>
            <a:r>
              <a:rPr lang="en-US" dirty="0"/>
              <a:t>Attack Scenario</a:t>
            </a:r>
          </a:p>
        </p:txBody>
      </p:sp>
      <p:sp>
        <p:nvSpPr>
          <p:cNvPr id="27" name="Rectangle 11">
            <a:extLst>
              <a:ext uri="{FF2B5EF4-FFF2-40B4-BE49-F238E27FC236}">
                <a16:creationId xmlns:a16="http://schemas.microsoft.com/office/drawing/2014/main" id="{AA4A5584-7F73-4F33-B53A-3CC3BDB43270}"/>
              </a:ext>
            </a:extLst>
          </p:cNvPr>
          <p:cNvSpPr/>
          <p:nvPr/>
        </p:nvSpPr>
        <p:spPr bwMode="auto">
          <a:xfrm>
            <a:off x="8236385" y="1859576"/>
            <a:ext cx="1229741" cy="3646489"/>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endParaRPr>
          </a:p>
        </p:txBody>
      </p:sp>
      <p:pic>
        <p:nvPicPr>
          <p:cNvPr id="28" name="Picture 2" descr="ãVM iconãçåçæå°çµæ">
            <a:extLst>
              <a:ext uri="{FF2B5EF4-FFF2-40B4-BE49-F238E27FC236}">
                <a16:creationId xmlns:a16="http://schemas.microsoft.com/office/drawing/2014/main" id="{A5684656-C73F-471B-9D1E-EF9F61C64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4665" y="1048854"/>
            <a:ext cx="929950" cy="92995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13">
            <a:extLst>
              <a:ext uri="{FF2B5EF4-FFF2-40B4-BE49-F238E27FC236}">
                <a16:creationId xmlns:a16="http://schemas.microsoft.com/office/drawing/2014/main" id="{D4B0BC13-D5DE-42A9-A4EC-99BB3B2D30D9}"/>
              </a:ext>
            </a:extLst>
          </p:cNvPr>
          <p:cNvSpPr txBox="1"/>
          <p:nvPr/>
        </p:nvSpPr>
        <p:spPr>
          <a:xfrm>
            <a:off x="8076775" y="668547"/>
            <a:ext cx="1548959" cy="461665"/>
          </a:xfrm>
          <a:prstGeom prst="rect">
            <a:avLst/>
          </a:prstGeom>
          <a:noFill/>
        </p:spPr>
        <p:txBody>
          <a:bodyPr wrap="square" rtlCol="0">
            <a:spAutoFit/>
          </a:bodyPr>
          <a:lstStyle/>
          <a:p>
            <a:pPr algn="ctr"/>
            <a:r>
              <a:rPr lang="en-US" altLang="zh-TW" dirty="0">
                <a:solidFill>
                  <a:srgbClr val="FF0000"/>
                </a:solidFill>
              </a:rPr>
              <a:t>Attacker</a:t>
            </a:r>
            <a:endParaRPr lang="en-US" dirty="0">
              <a:solidFill>
                <a:srgbClr val="FF0000"/>
              </a:solidFill>
            </a:endParaRPr>
          </a:p>
        </p:txBody>
      </p:sp>
      <p:sp>
        <p:nvSpPr>
          <p:cNvPr id="30" name="TextBox 10">
            <a:extLst>
              <a:ext uri="{FF2B5EF4-FFF2-40B4-BE49-F238E27FC236}">
                <a16:creationId xmlns:a16="http://schemas.microsoft.com/office/drawing/2014/main" id="{F78B7400-6A10-4B5A-8EC8-0DBD874DD2FE}"/>
              </a:ext>
            </a:extLst>
          </p:cNvPr>
          <p:cNvSpPr txBox="1"/>
          <p:nvPr/>
        </p:nvSpPr>
        <p:spPr>
          <a:xfrm>
            <a:off x="8344743" y="4004242"/>
            <a:ext cx="1013024" cy="830997"/>
          </a:xfrm>
          <a:prstGeom prst="rect">
            <a:avLst/>
          </a:prstGeom>
          <a:noFill/>
          <a:ln>
            <a:solidFill>
              <a:schemeClr val="tx1"/>
            </a:solidFill>
          </a:ln>
        </p:spPr>
        <p:txBody>
          <a:bodyPr wrap="square" rtlCol="0">
            <a:spAutoFit/>
          </a:bodyPr>
          <a:lstStyle/>
          <a:p>
            <a:pPr algn="ctr"/>
            <a:r>
              <a:rPr lang="en-US" dirty="0">
                <a:latin typeface="Calibri" panose="020F0502020204030204" pitchFamily="34" charset="0"/>
                <a:cs typeface="Calibri" panose="020F0502020204030204" pitchFamily="34" charset="0"/>
              </a:rPr>
              <a:t>Attack</a:t>
            </a:r>
          </a:p>
          <a:p>
            <a:pPr algn="ctr"/>
            <a:r>
              <a:rPr lang="en-US" dirty="0">
                <a:latin typeface="Calibri" panose="020F0502020204030204" pitchFamily="34" charset="0"/>
                <a:cs typeface="Calibri" panose="020F0502020204030204" pitchFamily="34" charset="0"/>
              </a:rPr>
              <a:t>server</a:t>
            </a:r>
          </a:p>
        </p:txBody>
      </p:sp>
      <p:sp>
        <p:nvSpPr>
          <p:cNvPr id="34" name="TextBox 16">
            <a:extLst>
              <a:ext uri="{FF2B5EF4-FFF2-40B4-BE49-F238E27FC236}">
                <a16:creationId xmlns:a16="http://schemas.microsoft.com/office/drawing/2014/main" id="{04E814F6-075A-4127-8C68-68E5F68FB521}"/>
              </a:ext>
            </a:extLst>
          </p:cNvPr>
          <p:cNvSpPr txBox="1"/>
          <p:nvPr/>
        </p:nvSpPr>
        <p:spPr>
          <a:xfrm>
            <a:off x="9328853" y="1990684"/>
            <a:ext cx="886478" cy="461665"/>
          </a:xfrm>
          <a:prstGeom prst="rect">
            <a:avLst/>
          </a:prstGeom>
          <a:noFill/>
        </p:spPr>
        <p:txBody>
          <a:bodyPr wrap="square" rtlCol="0">
            <a:spAutoFit/>
          </a:bodyPr>
          <a:lstStyle/>
          <a:p>
            <a:pPr algn="ctr"/>
            <a:r>
              <a:rPr lang="en-US" b="1" dirty="0">
                <a:solidFill>
                  <a:srgbClr val="006600"/>
                </a:solidFill>
                <a:latin typeface="Calibri" panose="020F0502020204030204" pitchFamily="34" charset="0"/>
                <a:cs typeface="Calibri" panose="020F0502020204030204" pitchFamily="34" charset="0"/>
              </a:rPr>
              <a:t>SSH</a:t>
            </a:r>
          </a:p>
        </p:txBody>
      </p:sp>
      <p:sp>
        <p:nvSpPr>
          <p:cNvPr id="35" name="Right Arrow 15">
            <a:extLst>
              <a:ext uri="{FF2B5EF4-FFF2-40B4-BE49-F238E27FC236}">
                <a16:creationId xmlns:a16="http://schemas.microsoft.com/office/drawing/2014/main" id="{7E9AE2B0-A92B-4B86-A5D1-E1D350A2B385}"/>
              </a:ext>
            </a:extLst>
          </p:cNvPr>
          <p:cNvSpPr/>
          <p:nvPr/>
        </p:nvSpPr>
        <p:spPr bwMode="auto">
          <a:xfrm>
            <a:off x="9357765" y="2289634"/>
            <a:ext cx="1060165" cy="312821"/>
          </a:xfrm>
          <a:prstGeom prst="rightArrow">
            <a:avLst/>
          </a:prstGeom>
          <a:solidFill>
            <a:srgbClr val="0066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endParaRPr>
          </a:p>
        </p:txBody>
      </p:sp>
      <p:sp>
        <p:nvSpPr>
          <p:cNvPr id="38" name="TextBox 10">
            <a:extLst>
              <a:ext uri="{FF2B5EF4-FFF2-40B4-BE49-F238E27FC236}">
                <a16:creationId xmlns:a16="http://schemas.microsoft.com/office/drawing/2014/main" id="{F78B7400-6A10-4B5A-8EC8-0DBD874DD2FE}"/>
              </a:ext>
            </a:extLst>
          </p:cNvPr>
          <p:cNvSpPr txBox="1"/>
          <p:nvPr/>
        </p:nvSpPr>
        <p:spPr>
          <a:xfrm>
            <a:off x="10600341" y="3562009"/>
            <a:ext cx="1454257" cy="830997"/>
          </a:xfrm>
          <a:prstGeom prst="rect">
            <a:avLst/>
          </a:prstGeom>
          <a:noFill/>
          <a:ln>
            <a:solidFill>
              <a:schemeClr val="tx1"/>
            </a:solidFill>
          </a:ln>
        </p:spPr>
        <p:txBody>
          <a:bodyPr wrap="square" rtlCol="0">
            <a:spAutoFit/>
          </a:bodyPr>
          <a:lstStyle/>
          <a:p>
            <a:pPr algn="ctr"/>
            <a:r>
              <a:rPr lang="en-US" i="1" dirty="0">
                <a:latin typeface="Calibri" panose="020F0502020204030204" pitchFamily="34" charset="0"/>
                <a:cs typeface="Calibri" panose="020F0502020204030204" pitchFamily="34" charset="0"/>
              </a:rPr>
              <a:t>date</a:t>
            </a:r>
            <a:r>
              <a:rPr lang="en-US" dirty="0">
                <a:latin typeface="Calibri" panose="020F0502020204030204" pitchFamily="34" charset="0"/>
                <a:cs typeface="Calibri" panose="020F0502020204030204" pitchFamily="34" charset="0"/>
              </a:rPr>
              <a:t> executed</a:t>
            </a:r>
          </a:p>
        </p:txBody>
      </p:sp>
      <p:sp>
        <p:nvSpPr>
          <p:cNvPr id="39" name="Rectangle 11">
            <a:extLst>
              <a:ext uri="{FF2B5EF4-FFF2-40B4-BE49-F238E27FC236}">
                <a16:creationId xmlns:a16="http://schemas.microsoft.com/office/drawing/2014/main" id="{AA4A5584-7F73-4F33-B53A-3CC3BDB43270}"/>
              </a:ext>
            </a:extLst>
          </p:cNvPr>
          <p:cNvSpPr/>
          <p:nvPr/>
        </p:nvSpPr>
        <p:spPr bwMode="auto">
          <a:xfrm>
            <a:off x="10359972" y="1859576"/>
            <a:ext cx="1801991" cy="3646489"/>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endParaRPr>
          </a:p>
        </p:txBody>
      </p:sp>
      <p:sp>
        <p:nvSpPr>
          <p:cNvPr id="40" name="迴轉箭號 39"/>
          <p:cNvSpPr/>
          <p:nvPr/>
        </p:nvSpPr>
        <p:spPr bwMode="auto">
          <a:xfrm rot="16200000">
            <a:off x="9472352" y="3880997"/>
            <a:ext cx="830998" cy="1060164"/>
          </a:xfrm>
          <a:prstGeom prst="uturnArrow">
            <a:avLst>
              <a:gd name="adj1" fmla="val 13546"/>
              <a:gd name="adj2" fmla="val 17754"/>
              <a:gd name="adj3" fmla="val 27970"/>
              <a:gd name="adj4" fmla="val 43750"/>
              <a:gd name="adj5" fmla="val 100000"/>
            </a:avLst>
          </a:prstGeom>
          <a:solidFill>
            <a:srgbClr val="006600"/>
          </a:solidFill>
          <a:ln w="9525" cap="flat" cmpd="sng" algn="ctr">
            <a:solidFill>
              <a:schemeClr val="tx1"/>
            </a:solidFill>
            <a:prstDash val="solid"/>
            <a:round/>
            <a:headEnd type="none" w="med" len="med"/>
            <a:tailEnd type="none" w="med" len="med"/>
          </a:ln>
          <a:effectLst/>
          <a:scene3d>
            <a:camera prst="orthographicFront">
              <a:rot lat="0" lon="10800000" rev="0"/>
            </a:camera>
            <a:lightRig rig="threePt" dir="t"/>
          </a:scene3d>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TW" altLang="en-US" sz="2400" b="0" i="0" u="none" strike="noStrike" cap="none" normalizeH="0" baseline="0">
              <a:ln>
                <a:noFill/>
              </a:ln>
              <a:solidFill>
                <a:srgbClr val="000000"/>
              </a:solidFill>
              <a:effectLst/>
              <a:latin typeface="Arial" charset="0"/>
              <a:ea typeface="ＭＳ Ｐゴシック" charset="0"/>
            </a:endParaRPr>
          </a:p>
        </p:txBody>
      </p:sp>
      <p:pic>
        <p:nvPicPr>
          <p:cNvPr id="44" name="Picture 8">
            <a:extLst>
              <a:ext uri="{FF2B5EF4-FFF2-40B4-BE49-F238E27FC236}">
                <a16:creationId xmlns:a16="http://schemas.microsoft.com/office/drawing/2014/main" id="{A944A4FB-3437-4625-B5F7-9D70193790CD}"/>
              </a:ext>
            </a:extLst>
          </p:cNvPr>
          <p:cNvPicPr>
            <a:picLocks noChangeAspect="1"/>
          </p:cNvPicPr>
          <p:nvPr/>
        </p:nvPicPr>
        <p:blipFill>
          <a:blip r:embed="rId4"/>
          <a:stretch>
            <a:fillRect/>
          </a:stretch>
        </p:blipFill>
        <p:spPr>
          <a:xfrm rot="21361228">
            <a:off x="10895286" y="4691680"/>
            <a:ext cx="711554" cy="287118"/>
          </a:xfrm>
          <a:prstGeom prst="rect">
            <a:avLst/>
          </a:prstGeom>
          <a:scene3d>
            <a:camera prst="orthographicFront">
              <a:rot lat="0" lon="11099999" rev="0"/>
            </a:camera>
            <a:lightRig rig="threePt" dir="t"/>
          </a:scene3d>
        </p:spPr>
      </p:pic>
      <p:sp>
        <p:nvSpPr>
          <p:cNvPr id="52" name="TextBox 10">
            <a:extLst>
              <a:ext uri="{FF2B5EF4-FFF2-40B4-BE49-F238E27FC236}">
                <a16:creationId xmlns:a16="http://schemas.microsoft.com/office/drawing/2014/main" id="{F78B7400-6A10-4B5A-8EC8-0DBD874DD2FE}"/>
              </a:ext>
            </a:extLst>
          </p:cNvPr>
          <p:cNvSpPr txBox="1"/>
          <p:nvPr/>
        </p:nvSpPr>
        <p:spPr>
          <a:xfrm>
            <a:off x="10748407" y="4884689"/>
            <a:ext cx="985905" cy="461665"/>
          </a:xfrm>
          <a:prstGeom prst="rect">
            <a:avLst/>
          </a:prstGeom>
          <a:noFill/>
        </p:spPr>
        <p:txBody>
          <a:bodyPr wrap="square" rtlCol="0">
            <a:spAutoFit/>
          </a:bodyPr>
          <a:lstStyle/>
          <a:p>
            <a:pPr algn="ctr"/>
            <a:r>
              <a:rPr lang="en-US" dirty="0">
                <a:latin typeface="Calibri" panose="020F0502020204030204" pitchFamily="34" charset="0"/>
                <a:cs typeface="Calibri" panose="020F0502020204030204" pitchFamily="34" charset="0"/>
              </a:rPr>
              <a:t>worm</a:t>
            </a:r>
          </a:p>
        </p:txBody>
      </p:sp>
      <p:pic>
        <p:nvPicPr>
          <p:cNvPr id="53"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52385" y="1978735"/>
            <a:ext cx="642031" cy="605649"/>
          </a:xfrm>
          <a:prstGeom prst="rect">
            <a:avLst/>
          </a:prstGeom>
        </p:spPr>
      </p:pic>
      <p:sp>
        <p:nvSpPr>
          <p:cNvPr id="54" name="TextBox 10">
            <a:extLst>
              <a:ext uri="{FF2B5EF4-FFF2-40B4-BE49-F238E27FC236}">
                <a16:creationId xmlns:a16="http://schemas.microsoft.com/office/drawing/2014/main" id="{F78B7400-6A10-4B5A-8EC8-0DBD874DD2FE}"/>
              </a:ext>
            </a:extLst>
          </p:cNvPr>
          <p:cNvSpPr txBox="1"/>
          <p:nvPr/>
        </p:nvSpPr>
        <p:spPr>
          <a:xfrm>
            <a:off x="10359970" y="2556814"/>
            <a:ext cx="1801990" cy="707886"/>
          </a:xfrm>
          <a:prstGeom prst="rect">
            <a:avLst/>
          </a:prstGeom>
          <a:noFill/>
        </p:spPr>
        <p:txBody>
          <a:bodyPr wrap="square" rtlCol="0">
            <a:spAutoFit/>
          </a:bodyPr>
          <a:lstStyle/>
          <a:p>
            <a:pPr algn="ctr"/>
            <a:r>
              <a:rPr lang="en-US" sz="2000" dirty="0">
                <a:latin typeface="Calibri" panose="020F0502020204030204" pitchFamily="34" charset="0"/>
                <a:cs typeface="Calibri" panose="020F0502020204030204" pitchFamily="34" charset="0"/>
              </a:rPr>
              <a:t>Compressed Virus in </a:t>
            </a:r>
            <a:r>
              <a:rPr lang="en-US" sz="2000" i="1" dirty="0">
                <a:latin typeface="Calibri" panose="020F0502020204030204" pitchFamily="34" charset="0"/>
                <a:cs typeface="Calibri" panose="020F0502020204030204" pitchFamily="34" charset="0"/>
              </a:rPr>
              <a:t>date</a:t>
            </a:r>
            <a:r>
              <a:rPr lang="en-US" sz="2000" dirty="0">
                <a:latin typeface="Calibri" panose="020F0502020204030204" pitchFamily="34" charset="0"/>
                <a:cs typeface="Calibri" panose="020F0502020204030204" pitchFamily="34" charset="0"/>
              </a:rPr>
              <a:t> </a:t>
            </a:r>
          </a:p>
        </p:txBody>
      </p:sp>
      <p:pic>
        <p:nvPicPr>
          <p:cNvPr id="57" name="Picture 2" descr="ãVM iconãçåçæå°çµæ">
            <a:extLst>
              <a:ext uri="{FF2B5EF4-FFF2-40B4-BE49-F238E27FC236}">
                <a16:creationId xmlns:a16="http://schemas.microsoft.com/office/drawing/2014/main" id="{A379453A-3363-454A-ABDA-9C12CD7598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4362" y="1074383"/>
            <a:ext cx="929950" cy="929950"/>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6">
            <a:extLst>
              <a:ext uri="{FF2B5EF4-FFF2-40B4-BE49-F238E27FC236}">
                <a16:creationId xmlns:a16="http://schemas.microsoft.com/office/drawing/2014/main" id="{0FFE02C6-9E6A-405D-9DCD-11436D2B5102}"/>
              </a:ext>
            </a:extLst>
          </p:cNvPr>
          <p:cNvSpPr txBox="1"/>
          <p:nvPr/>
        </p:nvSpPr>
        <p:spPr>
          <a:xfrm>
            <a:off x="10600341" y="707795"/>
            <a:ext cx="1337991" cy="461665"/>
          </a:xfrm>
          <a:prstGeom prst="rect">
            <a:avLst/>
          </a:prstGeom>
          <a:noFill/>
        </p:spPr>
        <p:txBody>
          <a:bodyPr wrap="square" rtlCol="0">
            <a:spAutoFit/>
          </a:bodyPr>
          <a:lstStyle/>
          <a:p>
            <a:pPr algn="ctr"/>
            <a:r>
              <a:rPr lang="en-US" dirty="0">
                <a:solidFill>
                  <a:srgbClr val="FF0000"/>
                </a:solidFill>
              </a:rPr>
              <a:t>Victim</a:t>
            </a:r>
          </a:p>
        </p:txBody>
      </p:sp>
      <p:sp>
        <p:nvSpPr>
          <p:cNvPr id="59" name="Content Placeholder 1"/>
          <p:cNvSpPr>
            <a:spLocks noGrp="1"/>
          </p:cNvSpPr>
          <p:nvPr>
            <p:ph idx="1"/>
          </p:nvPr>
        </p:nvSpPr>
        <p:spPr>
          <a:xfrm>
            <a:off x="912291" y="1649506"/>
            <a:ext cx="7324091" cy="4306794"/>
          </a:xfrm>
        </p:spPr>
        <p:txBody>
          <a:bodyPr/>
          <a:lstStyle/>
          <a:p>
            <a:r>
              <a:rPr lang="en-US" sz="2400" dirty="0">
                <a:solidFill>
                  <a:srgbClr val="0E3F96"/>
                </a:solidFill>
              </a:rPr>
              <a:t>You are going to play the role of an attacker</a:t>
            </a:r>
          </a:p>
          <a:p>
            <a:endParaRPr lang="en-US" dirty="0"/>
          </a:p>
          <a:p>
            <a:r>
              <a:rPr lang="en-US" sz="2400" dirty="0">
                <a:solidFill>
                  <a:srgbClr val="0E3F96"/>
                </a:solidFill>
              </a:rPr>
              <a:t>Assume that you know the IP of the victim and the username of his/her SSH account,  y</a:t>
            </a:r>
            <a:r>
              <a:rPr lang="en-US" altLang="zh-TW" sz="2400" dirty="0">
                <a:solidFill>
                  <a:srgbClr val="0E3F96"/>
                </a:solidFill>
              </a:rPr>
              <a:t>ou are asked to </a:t>
            </a:r>
            <a:endParaRPr lang="en-US" sz="2400" dirty="0">
              <a:solidFill>
                <a:srgbClr val="0E3F96"/>
              </a:solidFill>
            </a:endParaRPr>
          </a:p>
          <a:p>
            <a:pPr lvl="1"/>
            <a:r>
              <a:rPr lang="en-US" sz="2000" dirty="0"/>
              <a:t> Crack the victim’s SSH password</a:t>
            </a:r>
          </a:p>
          <a:p>
            <a:pPr lvl="1"/>
            <a:r>
              <a:rPr lang="zh-TW" altLang="en-US" sz="2000" dirty="0"/>
              <a:t> </a:t>
            </a:r>
            <a:r>
              <a:rPr lang="en-US" altLang="zh-TW" sz="2000" dirty="0"/>
              <a:t>Install a compressed virus in an affected program with</a:t>
            </a:r>
            <a:br>
              <a:rPr lang="en-US" altLang="zh-TW" sz="2000" dirty="0"/>
            </a:br>
            <a:r>
              <a:rPr lang="en-US" altLang="zh-TW" sz="2000" dirty="0"/>
              <a:t>  attacker’s signature generated by quantum safe algorithm</a:t>
            </a:r>
            <a:endParaRPr lang="en-US" sz="2000" dirty="0"/>
          </a:p>
          <a:p>
            <a:pPr lvl="1"/>
            <a:r>
              <a:rPr lang="en-US" sz="2000" dirty="0"/>
              <a:t> (Virus payload) Download and trigger a ransomware worm</a:t>
            </a:r>
          </a:p>
          <a:p>
            <a:endParaRPr lang="en-US" dirty="0"/>
          </a:p>
          <a:p>
            <a:r>
              <a:rPr lang="en-US" sz="2400" dirty="0">
                <a:solidFill>
                  <a:srgbClr val="0E3F96"/>
                </a:solidFill>
              </a:rPr>
              <a:t>Consider the affected program: </a:t>
            </a:r>
            <a:r>
              <a:rPr lang="en-US" altLang="zh-TW" sz="2400" dirty="0">
                <a:solidFill>
                  <a:srgbClr val="0E3F96"/>
                </a:solidFill>
              </a:rPr>
              <a:t>/app/date in </a:t>
            </a:r>
            <a:r>
              <a:rPr lang="en-US" sz="2400" dirty="0">
                <a:solidFill>
                  <a:srgbClr val="0E3F96"/>
                </a:solidFill>
              </a:rPr>
              <a:t>victim.</a:t>
            </a:r>
            <a:endParaRPr lang="en-US" sz="2000" dirty="0">
              <a:solidFill>
                <a:srgbClr val="0E3F96"/>
              </a:solidFill>
            </a:endParaRPr>
          </a:p>
          <a:p>
            <a:pPr lvl="1"/>
            <a:r>
              <a:rPr lang="en-US" sz="2000" dirty="0"/>
              <a:t> When it is running, the virus payload is executed </a:t>
            </a:r>
          </a:p>
        </p:txBody>
      </p:sp>
    </p:spTree>
    <p:extLst>
      <p:ext uri="{BB962C8B-B14F-4D97-AF65-F5344CB8AC3E}">
        <p14:creationId xmlns:p14="http://schemas.microsoft.com/office/powerpoint/2010/main" val="84935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200000"/>
              </a:lnSpc>
            </a:pPr>
            <a:r>
              <a:rPr lang="en-US" dirty="0">
                <a:solidFill>
                  <a:srgbClr val="0E3F96"/>
                </a:solidFill>
              </a:rPr>
              <a:t>Task I: Crack SSH password (10%)</a:t>
            </a:r>
          </a:p>
          <a:p>
            <a:pPr>
              <a:lnSpc>
                <a:spcPct val="200000"/>
              </a:lnSpc>
            </a:pPr>
            <a:r>
              <a:rPr lang="en-US" altLang="zh-TW" dirty="0">
                <a:solidFill>
                  <a:srgbClr val="0E3F96"/>
                </a:solidFill>
              </a:rPr>
              <a:t>Task II: Create a compression virus with the propagation of the    ransomware worm</a:t>
            </a:r>
            <a:r>
              <a:rPr lang="en-US" altLang="zh-TW" b="1" i="1" dirty="0">
                <a:solidFill>
                  <a:srgbClr val="0E3F96"/>
                </a:solidFill>
              </a:rPr>
              <a:t> </a:t>
            </a:r>
            <a:r>
              <a:rPr lang="en-US" altLang="zh-TW" dirty="0">
                <a:solidFill>
                  <a:srgbClr val="0E3F96"/>
                </a:solidFill>
              </a:rPr>
              <a:t>(20%)</a:t>
            </a:r>
            <a:endParaRPr lang="en-US" dirty="0">
              <a:solidFill>
                <a:srgbClr val="0E3F96"/>
              </a:solidFill>
            </a:endParaRPr>
          </a:p>
          <a:p>
            <a:pPr>
              <a:lnSpc>
                <a:spcPct val="200000"/>
              </a:lnSpc>
            </a:pPr>
            <a:r>
              <a:rPr lang="en-US" dirty="0">
                <a:solidFill>
                  <a:srgbClr val="0E3F96"/>
                </a:solidFill>
              </a:rPr>
              <a:t>Task III: Prepare the ransomware payload &amp; PQC KEM (20%)</a:t>
            </a:r>
          </a:p>
          <a:p>
            <a:pPr>
              <a:lnSpc>
                <a:spcPct val="200000"/>
              </a:lnSpc>
            </a:pPr>
            <a:r>
              <a:rPr lang="en-US" dirty="0">
                <a:solidFill>
                  <a:srgbClr val="0E3F96"/>
                </a:solidFill>
              </a:rPr>
              <a:t>Questions during demo (50%)</a:t>
            </a:r>
          </a:p>
          <a:p>
            <a:pPr>
              <a:lnSpc>
                <a:spcPct val="200000"/>
              </a:lnSpc>
            </a:pPr>
            <a:endParaRPr lang="en-US" dirty="0">
              <a:solidFill>
                <a:srgbClr val="0E3F96"/>
              </a:solidFill>
            </a:endParaRPr>
          </a:p>
          <a:p>
            <a:pPr>
              <a:lnSpc>
                <a:spcPct val="200000"/>
              </a:lnSpc>
            </a:pPr>
            <a:endParaRPr lang="en-US" dirty="0">
              <a:solidFill>
                <a:srgbClr val="0E3F96"/>
              </a:solidFill>
            </a:endParaRPr>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4</a:t>
            </a:fld>
            <a:endParaRPr lang="en-US" altLang="en-US" dirty="0"/>
          </a:p>
        </p:txBody>
      </p:sp>
      <p:sp>
        <p:nvSpPr>
          <p:cNvPr id="4" name="Title 3"/>
          <p:cNvSpPr>
            <a:spLocks noGrp="1"/>
          </p:cNvSpPr>
          <p:nvPr>
            <p:ph type="title"/>
          </p:nvPr>
        </p:nvSpPr>
        <p:spPr/>
        <p:txBody>
          <a:bodyPr/>
          <a:lstStyle/>
          <a:p>
            <a:r>
              <a:rPr lang="en-US" dirty="0"/>
              <a:t>Grading </a:t>
            </a:r>
          </a:p>
        </p:txBody>
      </p:sp>
    </p:spTree>
    <p:extLst>
      <p:ext uri="{BB962C8B-B14F-4D97-AF65-F5344CB8AC3E}">
        <p14:creationId xmlns:p14="http://schemas.microsoft.com/office/powerpoint/2010/main" val="2063175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289" y="1649506"/>
            <a:ext cx="10996681" cy="4306794"/>
          </a:xfrm>
        </p:spPr>
        <p:txBody>
          <a:bodyPr>
            <a:noAutofit/>
          </a:bodyPr>
          <a:lstStyle/>
          <a:p>
            <a:r>
              <a:rPr lang="en-US" altLang="zh-TW" dirty="0">
                <a:solidFill>
                  <a:srgbClr val="0E3F96"/>
                </a:solidFill>
              </a:rPr>
              <a:t>Cracking the victim’s password by launching a dictionary attack</a:t>
            </a:r>
          </a:p>
          <a:p>
            <a:pPr lvl="1"/>
            <a:r>
              <a:rPr lang="zh-TW" altLang="en-US" dirty="0"/>
              <a:t> </a:t>
            </a:r>
            <a:r>
              <a:rPr lang="en-US" altLang="zh-TW" dirty="0"/>
              <a:t>Assume that the victim’s username is known as csc2026</a:t>
            </a:r>
          </a:p>
          <a:p>
            <a:pPr lvl="1"/>
            <a:r>
              <a:rPr lang="en-US" altLang="zh-TW" dirty="0"/>
              <a:t> Assume that the password is created based on the victim’s personal information</a:t>
            </a:r>
          </a:p>
          <a:p>
            <a:pPr lvl="2"/>
            <a:r>
              <a:rPr lang="en-US" altLang="zh-TW" dirty="0"/>
              <a:t>A file including the victim’s personal information: </a:t>
            </a:r>
            <a:r>
              <a:rPr lang="en-US" altLang="zh-TW" dirty="0">
                <a:solidFill>
                  <a:srgbClr val="FF0000"/>
                </a:solidFill>
              </a:rPr>
              <a:t>/app/</a:t>
            </a:r>
            <a:r>
              <a:rPr lang="en-US" altLang="zh-TW" dirty="0" err="1">
                <a:solidFill>
                  <a:srgbClr val="FF0000"/>
                </a:solidFill>
              </a:rPr>
              <a:t>victim.dat</a:t>
            </a:r>
            <a:r>
              <a:rPr lang="en-US" altLang="zh-TW" dirty="0">
                <a:solidFill>
                  <a:srgbClr val="FF0000"/>
                </a:solidFill>
              </a:rPr>
              <a:t> </a:t>
            </a:r>
            <a:r>
              <a:rPr lang="en-US" altLang="zh-TW" dirty="0">
                <a:solidFill>
                  <a:schemeClr val="bg1">
                    <a:lumMod val="50000"/>
                  </a:schemeClr>
                </a:solidFill>
              </a:rPr>
              <a:t>in attacker container</a:t>
            </a:r>
          </a:p>
          <a:p>
            <a:pPr lvl="3"/>
            <a:r>
              <a:rPr lang="en-US" altLang="zh-TW" dirty="0"/>
              <a:t> One row contains an information entry</a:t>
            </a:r>
          </a:p>
          <a:p>
            <a:pPr lvl="2"/>
            <a:r>
              <a:rPr lang="en-US" altLang="zh-TW" dirty="0"/>
              <a:t>The password is composed of one or few information entries</a:t>
            </a:r>
          </a:p>
          <a:p>
            <a:endParaRPr lang="en-US" altLang="zh-TW" dirty="0"/>
          </a:p>
          <a:p>
            <a:r>
              <a:rPr lang="en-US" altLang="zh-TW" dirty="0">
                <a:solidFill>
                  <a:srgbClr val="0E3F96"/>
                </a:solidFill>
              </a:rPr>
              <a:t>Hints</a:t>
            </a:r>
          </a:p>
          <a:p>
            <a:pPr lvl="1"/>
            <a:r>
              <a:rPr lang="en-US" altLang="zh-TW" dirty="0"/>
              <a:t> Try strings combination in Python: </a:t>
            </a:r>
            <a:r>
              <a:rPr lang="en-US" altLang="zh-TW" b="1" dirty="0" err="1">
                <a:solidFill>
                  <a:srgbClr val="C00000"/>
                </a:solidFill>
              </a:rPr>
              <a:t>itertools</a:t>
            </a:r>
            <a:endParaRPr lang="en-US" altLang="zh-TW" b="1" dirty="0">
              <a:solidFill>
                <a:srgbClr val="C00000"/>
              </a:solidFill>
            </a:endParaRPr>
          </a:p>
          <a:p>
            <a:pPr lvl="1"/>
            <a:r>
              <a:rPr lang="en-US" altLang="zh-TW" dirty="0"/>
              <a:t> Automatic SSH and SFTP operation in Python: </a:t>
            </a:r>
            <a:r>
              <a:rPr lang="en-US" altLang="zh-TW" b="1" dirty="0" err="1">
                <a:solidFill>
                  <a:srgbClr val="C00000"/>
                </a:solidFill>
              </a:rPr>
              <a:t>paramiko</a:t>
            </a:r>
            <a:endParaRPr lang="en-US" altLang="zh-TW" b="1" dirty="0">
              <a:solidFill>
                <a:srgbClr val="C00000"/>
              </a:solidFill>
            </a:endParaRPr>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5</a:t>
            </a:fld>
            <a:endParaRPr lang="en-US" altLang="en-US" dirty="0"/>
          </a:p>
        </p:txBody>
      </p:sp>
      <p:sp>
        <p:nvSpPr>
          <p:cNvPr id="4" name="Title 3"/>
          <p:cNvSpPr>
            <a:spLocks noGrp="1"/>
          </p:cNvSpPr>
          <p:nvPr>
            <p:ph type="title"/>
          </p:nvPr>
        </p:nvSpPr>
        <p:spPr/>
        <p:txBody>
          <a:bodyPr/>
          <a:lstStyle/>
          <a:p>
            <a:r>
              <a:rPr lang="en-US" altLang="zh-TW" dirty="0"/>
              <a:t>Task I: Crack SSH password</a:t>
            </a:r>
            <a:endParaRPr lang="en-US" dirty="0"/>
          </a:p>
        </p:txBody>
      </p:sp>
    </p:spTree>
    <p:extLst>
      <p:ext uri="{BB962C8B-B14F-4D97-AF65-F5344CB8AC3E}">
        <p14:creationId xmlns:p14="http://schemas.microsoft.com/office/powerpoint/2010/main" val="84248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290" y="1649506"/>
            <a:ext cx="10406873" cy="4306794"/>
          </a:xfrm>
        </p:spPr>
        <p:txBody>
          <a:bodyPr/>
          <a:lstStyle/>
          <a:p>
            <a:r>
              <a:rPr lang="en-US" dirty="0">
                <a:solidFill>
                  <a:srgbClr val="0E3F96"/>
                </a:solidFill>
              </a:rPr>
              <a:t>Infect /app/date in victim by embedding your compression virus</a:t>
            </a:r>
          </a:p>
          <a:p>
            <a:endParaRPr lang="en-US" altLang="zh-TW" sz="2000" dirty="0">
              <a:solidFill>
                <a:srgbClr val="0E3F96"/>
              </a:solidFill>
            </a:endParaRPr>
          </a:p>
          <a:p>
            <a:r>
              <a:rPr lang="en-US" altLang="zh-TW" dirty="0">
                <a:solidFill>
                  <a:srgbClr val="0E3F96"/>
                </a:solidFill>
              </a:rPr>
              <a:t>Infected ‘date’ shall</a:t>
            </a:r>
          </a:p>
          <a:p>
            <a:pPr lvl="1"/>
            <a:r>
              <a:rPr lang="en-US" dirty="0"/>
              <a:t> Keep the same size as the original ‘date’</a:t>
            </a:r>
          </a:p>
          <a:p>
            <a:pPr lvl="2"/>
            <a:r>
              <a:rPr lang="en-US" dirty="0"/>
              <a:t>The original ‘date’ shall be compressed</a:t>
            </a:r>
          </a:p>
          <a:p>
            <a:pPr lvl="1"/>
            <a:r>
              <a:rPr lang="en-US" dirty="0"/>
              <a:t> Contain the virus payload and the functionality of the original ‘date’</a:t>
            </a:r>
          </a:p>
          <a:p>
            <a:pPr lvl="1"/>
            <a:r>
              <a:rPr lang="en-US" dirty="0"/>
              <a:t> Finish the execution of the payload before the end of the ‘date’ execution </a:t>
            </a:r>
          </a:p>
          <a:p>
            <a:endParaRPr lang="en-US" sz="2000" dirty="0">
              <a:solidFill>
                <a:srgbClr val="0E3F96"/>
              </a:solidFill>
            </a:endParaRPr>
          </a:p>
          <a:p>
            <a:r>
              <a:rPr lang="en-US" dirty="0">
                <a:solidFill>
                  <a:srgbClr val="0E3F96"/>
                </a:solidFill>
              </a:rPr>
              <a:t>The virus payload shall</a:t>
            </a:r>
          </a:p>
          <a:p>
            <a:pPr lvl="1"/>
            <a:r>
              <a:rPr lang="en-US" dirty="0"/>
              <a:t> Fetch a ransomware worm from the attack server</a:t>
            </a:r>
          </a:p>
          <a:p>
            <a:pPr lvl="1"/>
            <a:r>
              <a:rPr lang="en-US" dirty="0"/>
              <a:t> Execute the ransomware worm</a:t>
            </a:r>
          </a:p>
          <a:p>
            <a:pPr marL="400050" lvl="1" indent="0">
              <a:buNone/>
            </a:pPr>
            <a:endParaRPr lang="en-US" altLang="zh-TW" dirty="0"/>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6</a:t>
            </a:fld>
            <a:endParaRPr lang="en-US" altLang="en-US" dirty="0"/>
          </a:p>
        </p:txBody>
      </p:sp>
      <p:sp>
        <p:nvSpPr>
          <p:cNvPr id="4" name="Title 3"/>
          <p:cNvSpPr>
            <a:spLocks noGrp="1"/>
          </p:cNvSpPr>
          <p:nvPr>
            <p:ph type="title"/>
          </p:nvPr>
        </p:nvSpPr>
        <p:spPr>
          <a:xfrm>
            <a:off x="912290" y="594024"/>
            <a:ext cx="11123076" cy="787400"/>
          </a:xfrm>
        </p:spPr>
        <p:txBody>
          <a:bodyPr/>
          <a:lstStyle/>
          <a:p>
            <a:r>
              <a:rPr lang="en-US" dirty="0"/>
              <a:t>Task II: </a:t>
            </a:r>
            <a:r>
              <a:rPr lang="en-US" sz="3600" dirty="0"/>
              <a:t>Compression Virus with Ransomware Propagation </a:t>
            </a:r>
          </a:p>
        </p:txBody>
      </p:sp>
    </p:spTree>
    <p:extLst>
      <p:ext uri="{BB962C8B-B14F-4D97-AF65-F5344CB8AC3E}">
        <p14:creationId xmlns:p14="http://schemas.microsoft.com/office/powerpoint/2010/main" val="392134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912BE8-F911-42BF-8BBB-DEE8AD22258A}"/>
              </a:ext>
            </a:extLst>
          </p:cNvPr>
          <p:cNvSpPr>
            <a:spLocks noGrp="1"/>
          </p:cNvSpPr>
          <p:nvPr>
            <p:ph idx="1"/>
          </p:nvPr>
        </p:nvSpPr>
        <p:spPr>
          <a:xfrm>
            <a:off x="912291" y="1566380"/>
            <a:ext cx="10606774" cy="4983655"/>
          </a:xfrm>
        </p:spPr>
        <p:txBody>
          <a:bodyPr/>
          <a:lstStyle/>
          <a:p>
            <a:r>
              <a:rPr lang="en-US" altLang="zh-TW" dirty="0">
                <a:solidFill>
                  <a:srgbClr val="0E3F96"/>
                </a:solidFill>
              </a:rPr>
              <a:t>Requirements</a:t>
            </a:r>
          </a:p>
          <a:p>
            <a:pPr lvl="1"/>
            <a:r>
              <a:rPr lang="en-US" altLang="zh-TW" dirty="0"/>
              <a:t> The infection cannot leave any files except the infected ‘date’ on the victim container</a:t>
            </a:r>
          </a:p>
          <a:p>
            <a:pPr lvl="1"/>
            <a:r>
              <a:rPr lang="en-US" altLang="zh-TW" dirty="0"/>
              <a:t> The last 512 bytes of the infected ‘date’ should be the signature generated by</a:t>
            </a:r>
            <a:br>
              <a:rPr lang="en-US" altLang="zh-TW" dirty="0"/>
            </a:br>
            <a:r>
              <a:rPr lang="en-US" altLang="zh-TW" dirty="0"/>
              <a:t>  Dilithium3 algorithm</a:t>
            </a:r>
          </a:p>
          <a:p>
            <a:pPr lvl="1"/>
            <a:r>
              <a:rPr lang="en-US" altLang="zh-TW" dirty="0"/>
              <a:t> The size of infected ‘date’ should be identical to the original one</a:t>
            </a:r>
          </a:p>
          <a:p>
            <a:r>
              <a:rPr lang="en-US" altLang="zh-TW" dirty="0">
                <a:solidFill>
                  <a:srgbClr val="0E3F96"/>
                </a:solidFill>
              </a:rPr>
              <a:t>Hints</a:t>
            </a:r>
          </a:p>
          <a:p>
            <a:pPr lvl="1"/>
            <a:r>
              <a:rPr lang="en-US" altLang="zh-TW" dirty="0"/>
              <a:t> Compress ‘date’ using a compression algorithm</a:t>
            </a:r>
            <a:endParaRPr lang="en-US" altLang="zh-TW" b="1" dirty="0">
              <a:solidFill>
                <a:srgbClr val="C00000"/>
              </a:solidFill>
            </a:endParaRPr>
          </a:p>
          <a:p>
            <a:pPr lvl="1"/>
            <a:r>
              <a:rPr lang="en-US" altLang="zh-TW" dirty="0"/>
              <a:t> Minimize the virus size with various methods</a:t>
            </a:r>
          </a:p>
          <a:p>
            <a:pPr lvl="2"/>
            <a:r>
              <a:rPr lang="en-US" altLang="zh-TW" dirty="0"/>
              <a:t>e.g., using /dev/</a:t>
            </a:r>
            <a:r>
              <a:rPr lang="en-US" altLang="zh-TW" dirty="0" err="1"/>
              <a:t>tcp</a:t>
            </a:r>
            <a:r>
              <a:rPr lang="en-US" altLang="zh-TW" dirty="0"/>
              <a:t>/host/port to build </a:t>
            </a:r>
            <a:r>
              <a:rPr lang="en-US" altLang="zh-TW" dirty="0" err="1"/>
              <a:t>tcp</a:t>
            </a:r>
            <a:r>
              <a:rPr lang="en-US" altLang="zh-TW" dirty="0"/>
              <a:t> connections, </a:t>
            </a:r>
            <a:r>
              <a:rPr lang="en-US" altLang="zh-TW" dirty="0" err="1"/>
              <a:t>gcc</a:t>
            </a:r>
            <a:r>
              <a:rPr lang="en-US" altLang="zh-TW" dirty="0"/>
              <a:t> flags and strip</a:t>
            </a:r>
          </a:p>
          <a:p>
            <a:pPr lvl="1"/>
            <a:r>
              <a:rPr lang="en-US" altLang="zh-TW" dirty="0"/>
              <a:t> Execute a program using the exec() family</a:t>
            </a:r>
          </a:p>
          <a:p>
            <a:pPr lvl="1"/>
            <a:r>
              <a:rPr lang="en-US" altLang="zh-TW" dirty="0"/>
              <a:t> Use ‘</a:t>
            </a:r>
            <a:r>
              <a:rPr lang="en-US" altLang="zh-TW" dirty="0" err="1"/>
              <a:t>openssl</a:t>
            </a:r>
            <a:r>
              <a:rPr lang="en-US" altLang="zh-TW" dirty="0"/>
              <a:t> </a:t>
            </a:r>
            <a:r>
              <a:rPr lang="en-US" altLang="zh-TW" dirty="0" err="1"/>
              <a:t>dgst</a:t>
            </a:r>
            <a:r>
              <a:rPr lang="en-US" altLang="zh-TW" dirty="0"/>
              <a:t>’ to create &amp; verify your signature</a:t>
            </a:r>
          </a:p>
          <a:p>
            <a:pPr lvl="1"/>
            <a:endParaRPr lang="en-US" altLang="zh-TW" dirty="0"/>
          </a:p>
          <a:p>
            <a:pPr lvl="1"/>
            <a:endParaRPr lang="en-US" altLang="zh-TW" dirty="0"/>
          </a:p>
          <a:p>
            <a:pPr lvl="1"/>
            <a:endParaRPr lang="en-US" dirty="0">
              <a:solidFill>
                <a:srgbClr val="0E3F96"/>
              </a:solidFill>
            </a:endParaRPr>
          </a:p>
        </p:txBody>
      </p:sp>
      <p:sp>
        <p:nvSpPr>
          <p:cNvPr id="3" name="Slide Number Placeholder 2">
            <a:extLst>
              <a:ext uri="{FF2B5EF4-FFF2-40B4-BE49-F238E27FC236}">
                <a16:creationId xmlns:a16="http://schemas.microsoft.com/office/drawing/2014/main" id="{AB32C206-72F7-4013-A850-3496ED89FA15}"/>
              </a:ext>
            </a:extLst>
          </p:cNvPr>
          <p:cNvSpPr>
            <a:spLocks noGrp="1"/>
          </p:cNvSpPr>
          <p:nvPr>
            <p:ph type="sldNum" sz="quarter" idx="10"/>
          </p:nvPr>
        </p:nvSpPr>
        <p:spPr/>
        <p:txBody>
          <a:bodyPr/>
          <a:lstStyle/>
          <a:p>
            <a:fld id="{8D3C0205-A4ED-49FA-A528-855184B0DC67}" type="slidenum">
              <a:rPr lang="en-US" altLang="en-US" smtClean="0"/>
              <a:pPr/>
              <a:t>7</a:t>
            </a:fld>
            <a:endParaRPr lang="en-US" altLang="en-US" dirty="0"/>
          </a:p>
        </p:txBody>
      </p:sp>
      <p:sp>
        <p:nvSpPr>
          <p:cNvPr id="4" name="Title 3">
            <a:extLst>
              <a:ext uri="{FF2B5EF4-FFF2-40B4-BE49-F238E27FC236}">
                <a16:creationId xmlns:a16="http://schemas.microsoft.com/office/drawing/2014/main" id="{944C3698-F7C1-4430-9D26-2A8FB0E3410D}"/>
              </a:ext>
            </a:extLst>
          </p:cNvPr>
          <p:cNvSpPr>
            <a:spLocks noGrp="1"/>
          </p:cNvSpPr>
          <p:nvPr>
            <p:ph type="title"/>
          </p:nvPr>
        </p:nvSpPr>
        <p:spPr>
          <a:xfrm>
            <a:off x="912291" y="596900"/>
            <a:ext cx="10924667" cy="787400"/>
          </a:xfrm>
        </p:spPr>
        <p:txBody>
          <a:bodyPr/>
          <a:lstStyle/>
          <a:p>
            <a:r>
              <a:rPr lang="en-US" dirty="0"/>
              <a:t>Task II: </a:t>
            </a:r>
            <a:r>
              <a:rPr lang="en-US" sz="3600" dirty="0"/>
              <a:t>Compression Virus with Ransomware Propagation </a:t>
            </a:r>
          </a:p>
        </p:txBody>
      </p:sp>
    </p:spTree>
    <p:extLst>
      <p:ext uri="{BB962C8B-B14F-4D97-AF65-F5344CB8AC3E}">
        <p14:creationId xmlns:p14="http://schemas.microsoft.com/office/powerpoint/2010/main" val="311212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9F8BAB-57BF-40CF-9BAB-9892F2BCE3BF}"/>
              </a:ext>
            </a:extLst>
          </p:cNvPr>
          <p:cNvSpPr>
            <a:spLocks noGrp="1"/>
          </p:cNvSpPr>
          <p:nvPr>
            <p:ph idx="1"/>
          </p:nvPr>
        </p:nvSpPr>
        <p:spPr>
          <a:xfrm>
            <a:off x="912291" y="1649506"/>
            <a:ext cx="6600914" cy="4306794"/>
          </a:xfrm>
        </p:spPr>
        <p:txBody>
          <a:bodyPr/>
          <a:lstStyle/>
          <a:p>
            <a:r>
              <a:rPr lang="en-US" dirty="0">
                <a:solidFill>
                  <a:srgbClr val="0E3F96"/>
                </a:solidFill>
              </a:rPr>
              <a:t>Two major actions</a:t>
            </a:r>
          </a:p>
          <a:p>
            <a:pPr lvl="1"/>
            <a:r>
              <a:rPr lang="en-US" dirty="0"/>
              <a:t> Encrypting </a:t>
            </a:r>
            <a:r>
              <a:rPr lang="en-US" dirty="0">
                <a:solidFill>
                  <a:srgbClr val="C00000"/>
                </a:solidFill>
              </a:rPr>
              <a:t>all picture files with jpg subtype </a:t>
            </a:r>
            <a:r>
              <a:rPr lang="en-US" dirty="0"/>
              <a:t>in</a:t>
            </a:r>
            <a:br>
              <a:rPr lang="en-US" dirty="0"/>
            </a:br>
            <a:r>
              <a:rPr lang="en-US" dirty="0"/>
              <a:t>  /app/Pictures at the victim using AES key and iv fetched from our </a:t>
            </a:r>
            <a:r>
              <a:rPr lang="en-US" dirty="0">
                <a:solidFill>
                  <a:srgbClr val="C00000"/>
                </a:solidFill>
              </a:rPr>
              <a:t>key server (next slides).</a:t>
            </a:r>
          </a:p>
          <a:p>
            <a:pPr lvl="1"/>
            <a:r>
              <a:rPr lang="en-US" dirty="0"/>
              <a:t> Show a graph indicating a message requesting</a:t>
            </a:r>
            <a:br>
              <a:rPr lang="en-US" dirty="0"/>
            </a:br>
            <a:r>
              <a:rPr lang="en-US" dirty="0"/>
              <a:t>  ransom (check the </a:t>
            </a:r>
            <a:r>
              <a:rPr lang="en-US" dirty="0">
                <a:latin typeface="Courier New" panose="02070309020205020404" pitchFamily="49" charset="0"/>
                <a:cs typeface="Courier New" panose="02070309020205020404" pitchFamily="49" charset="0"/>
              </a:rPr>
              <a:t>banner</a:t>
            </a:r>
            <a:r>
              <a:rPr lang="en-US" dirty="0"/>
              <a:t> file for the source)</a:t>
            </a:r>
            <a:endParaRPr lang="en-US" sz="3600" dirty="0"/>
          </a:p>
          <a:p>
            <a:r>
              <a:rPr lang="en-US" dirty="0">
                <a:solidFill>
                  <a:srgbClr val="0E3F96"/>
                </a:solidFill>
              </a:rPr>
              <a:t>Requirements</a:t>
            </a:r>
          </a:p>
          <a:p>
            <a:pPr lvl="1"/>
            <a:r>
              <a:rPr lang="en-US" dirty="0"/>
              <a:t> Using a key and iv to do AES encryption &amp; decryption</a:t>
            </a:r>
          </a:p>
          <a:p>
            <a:r>
              <a:rPr lang="en-US" dirty="0">
                <a:solidFill>
                  <a:srgbClr val="0E3F96"/>
                </a:solidFill>
              </a:rPr>
              <a:t>Hints</a:t>
            </a:r>
          </a:p>
          <a:p>
            <a:pPr lvl="1"/>
            <a:r>
              <a:rPr lang="en-US" dirty="0"/>
              <a:t> Sample codes for AES encryption &amp; </a:t>
            </a:r>
            <a:r>
              <a:rPr lang="en-US" altLang="zh-TW" dirty="0"/>
              <a:t>decryption </a:t>
            </a:r>
            <a:endParaRPr lang="en-US" dirty="0"/>
          </a:p>
          <a:p>
            <a:pPr marL="400050" lvl="1" indent="0">
              <a:buNone/>
            </a:pPr>
            <a:endParaRPr lang="en-US" dirty="0"/>
          </a:p>
        </p:txBody>
      </p:sp>
      <p:sp>
        <p:nvSpPr>
          <p:cNvPr id="3" name="Slide Number Placeholder 2">
            <a:extLst>
              <a:ext uri="{FF2B5EF4-FFF2-40B4-BE49-F238E27FC236}">
                <a16:creationId xmlns:a16="http://schemas.microsoft.com/office/drawing/2014/main" id="{AC21B9BF-C318-4E47-AB88-AE29B27B0429}"/>
              </a:ext>
            </a:extLst>
          </p:cNvPr>
          <p:cNvSpPr>
            <a:spLocks noGrp="1"/>
          </p:cNvSpPr>
          <p:nvPr>
            <p:ph type="sldNum" sz="quarter" idx="10"/>
          </p:nvPr>
        </p:nvSpPr>
        <p:spPr/>
        <p:txBody>
          <a:bodyPr/>
          <a:lstStyle/>
          <a:p>
            <a:fld id="{8D3C0205-A4ED-49FA-A528-855184B0DC67}" type="slidenum">
              <a:rPr lang="en-US" altLang="en-US" smtClean="0"/>
              <a:pPr/>
              <a:t>8</a:t>
            </a:fld>
            <a:endParaRPr lang="en-US" altLang="en-US" dirty="0"/>
          </a:p>
        </p:txBody>
      </p:sp>
      <p:sp>
        <p:nvSpPr>
          <p:cNvPr id="4" name="Title 3">
            <a:extLst>
              <a:ext uri="{FF2B5EF4-FFF2-40B4-BE49-F238E27FC236}">
                <a16:creationId xmlns:a16="http://schemas.microsoft.com/office/drawing/2014/main" id="{D1CE0D0E-8ACF-4E4C-B481-39B2F7A5BE3A}"/>
              </a:ext>
            </a:extLst>
          </p:cNvPr>
          <p:cNvSpPr>
            <a:spLocks noGrp="1"/>
          </p:cNvSpPr>
          <p:nvPr>
            <p:ph type="title"/>
          </p:nvPr>
        </p:nvSpPr>
        <p:spPr/>
        <p:txBody>
          <a:bodyPr/>
          <a:lstStyle/>
          <a:p>
            <a:r>
              <a:rPr lang="en-US" dirty="0"/>
              <a:t>Task III: </a:t>
            </a:r>
            <a:r>
              <a:rPr lang="en-US" altLang="zh-TW" dirty="0"/>
              <a:t>Ransomware Payload &amp; PQC KEM </a:t>
            </a:r>
            <a:endParaRPr lang="en-US" dirty="0"/>
          </a:p>
        </p:txBody>
      </p:sp>
      <p:pic>
        <p:nvPicPr>
          <p:cNvPr id="5" name="圖片 4">
            <a:extLst>
              <a:ext uri="{FF2B5EF4-FFF2-40B4-BE49-F238E27FC236}">
                <a16:creationId xmlns:a16="http://schemas.microsoft.com/office/drawing/2014/main" id="{DE5D78DD-6353-C693-3928-BD3565BF044D}"/>
              </a:ext>
            </a:extLst>
          </p:cNvPr>
          <p:cNvPicPr>
            <a:picLocks noChangeAspect="1"/>
          </p:cNvPicPr>
          <p:nvPr/>
        </p:nvPicPr>
        <p:blipFill>
          <a:blip r:embed="rId3"/>
          <a:srcRect t="1065"/>
          <a:stretch>
            <a:fillRect/>
          </a:stretch>
        </p:blipFill>
        <p:spPr>
          <a:xfrm>
            <a:off x="7489392" y="1850526"/>
            <a:ext cx="4702608" cy="2336602"/>
          </a:xfrm>
          <a:prstGeom prst="rect">
            <a:avLst/>
          </a:prstGeom>
        </p:spPr>
      </p:pic>
    </p:spTree>
    <p:extLst>
      <p:ext uri="{BB962C8B-B14F-4D97-AF65-F5344CB8AC3E}">
        <p14:creationId xmlns:p14="http://schemas.microsoft.com/office/powerpoint/2010/main" val="197626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D892-8AB9-B9F8-0BB2-C2246EE66B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C808E5-DDA8-BD00-2137-0888405CCB1A}"/>
              </a:ext>
            </a:extLst>
          </p:cNvPr>
          <p:cNvSpPr>
            <a:spLocks noGrp="1"/>
          </p:cNvSpPr>
          <p:nvPr>
            <p:ph idx="1"/>
          </p:nvPr>
        </p:nvSpPr>
        <p:spPr>
          <a:xfrm>
            <a:off x="912290" y="1649506"/>
            <a:ext cx="11279709" cy="5063528"/>
          </a:xfrm>
        </p:spPr>
        <p:txBody>
          <a:bodyPr/>
          <a:lstStyle/>
          <a:p>
            <a:r>
              <a:rPr lang="en-US" dirty="0">
                <a:solidFill>
                  <a:srgbClr val="0E3F96"/>
                </a:solidFill>
              </a:rPr>
              <a:t>Interact with Kyber-512</a:t>
            </a:r>
            <a:r>
              <a:rPr lang="en" dirty="0">
                <a:solidFill>
                  <a:srgbClr val="0E3F96"/>
                </a:solidFill>
              </a:rPr>
              <a:t> Based </a:t>
            </a:r>
            <a:r>
              <a:rPr lang="en-US" dirty="0">
                <a:solidFill>
                  <a:srgbClr val="0E3F96"/>
                </a:solidFill>
              </a:rPr>
              <a:t>Key Server</a:t>
            </a:r>
          </a:p>
          <a:p>
            <a:pPr lvl="1"/>
            <a:r>
              <a:rPr lang="en-US" dirty="0"/>
              <a:t>  The server owns the private key, and you acts as a client. </a:t>
            </a:r>
          </a:p>
          <a:p>
            <a:pPr lvl="1"/>
            <a:r>
              <a:rPr lang="en-US" dirty="0"/>
              <a:t>  You receive a public key from the server, uses it to create a ciphertext and a shared secret using </a:t>
            </a:r>
            <a:r>
              <a:rPr lang="en" altLang="zh-TW" dirty="0"/>
              <a:t>Kyber-512</a:t>
            </a:r>
            <a:r>
              <a:rPr lang="en-US" dirty="0"/>
              <a:t>, then sends only the ciphertext back to server. </a:t>
            </a:r>
          </a:p>
          <a:p>
            <a:pPr lvl="1"/>
            <a:r>
              <a:rPr lang="en-US" dirty="0"/>
              <a:t>  The server decapsulates that ciphertext and computes the shared secret. If </a:t>
            </a:r>
            <a:r>
              <a:rPr lang="en-US" altLang="zh-TW" dirty="0"/>
              <a:t>the shared  is the </a:t>
            </a:r>
            <a:r>
              <a:rPr lang="en-US" dirty="0"/>
              <a:t>same , the server would return a pair of  AES Key and IV for your jpg image encryption.</a:t>
            </a:r>
          </a:p>
          <a:p>
            <a:pPr marL="400050" lvl="1" indent="0">
              <a:buNone/>
            </a:pPr>
            <a:endParaRPr lang="en-US" sz="3600" dirty="0"/>
          </a:p>
          <a:p>
            <a:r>
              <a:rPr lang="en-US" dirty="0">
                <a:solidFill>
                  <a:srgbClr val="0E3F96"/>
                </a:solidFill>
              </a:rPr>
              <a:t>Note </a:t>
            </a:r>
          </a:p>
          <a:p>
            <a:pPr lvl="1"/>
            <a:r>
              <a:rPr lang="en-US" dirty="0"/>
              <a:t> You should not hardcode the Key and IV, fetch it dynamically when you run the ransomware.</a:t>
            </a:r>
          </a:p>
          <a:p>
            <a:pPr lvl="1"/>
            <a:endParaRPr lang="en-US" dirty="0"/>
          </a:p>
          <a:p>
            <a:pPr marL="400050" lvl="1" indent="0">
              <a:buNone/>
            </a:pPr>
            <a:endParaRPr lang="en-US" dirty="0"/>
          </a:p>
        </p:txBody>
      </p:sp>
      <p:sp>
        <p:nvSpPr>
          <p:cNvPr id="3" name="Slide Number Placeholder 2">
            <a:extLst>
              <a:ext uri="{FF2B5EF4-FFF2-40B4-BE49-F238E27FC236}">
                <a16:creationId xmlns:a16="http://schemas.microsoft.com/office/drawing/2014/main" id="{F55EF1DD-ECB7-013C-EF70-6F7E93E18C1A}"/>
              </a:ext>
            </a:extLst>
          </p:cNvPr>
          <p:cNvSpPr>
            <a:spLocks noGrp="1"/>
          </p:cNvSpPr>
          <p:nvPr>
            <p:ph type="sldNum" sz="quarter" idx="10"/>
          </p:nvPr>
        </p:nvSpPr>
        <p:spPr/>
        <p:txBody>
          <a:bodyPr/>
          <a:lstStyle/>
          <a:p>
            <a:fld id="{8D3C0205-A4ED-49FA-A528-855184B0DC67}" type="slidenum">
              <a:rPr lang="en-US" altLang="en-US" smtClean="0"/>
              <a:pPr/>
              <a:t>9</a:t>
            </a:fld>
            <a:endParaRPr lang="en-US" altLang="en-US" dirty="0"/>
          </a:p>
        </p:txBody>
      </p:sp>
      <p:sp>
        <p:nvSpPr>
          <p:cNvPr id="4" name="Title 3">
            <a:extLst>
              <a:ext uri="{FF2B5EF4-FFF2-40B4-BE49-F238E27FC236}">
                <a16:creationId xmlns:a16="http://schemas.microsoft.com/office/drawing/2014/main" id="{AFAC0ED2-09D6-B583-0507-569BBC3A717F}"/>
              </a:ext>
            </a:extLst>
          </p:cNvPr>
          <p:cNvSpPr>
            <a:spLocks noGrp="1"/>
          </p:cNvSpPr>
          <p:nvPr>
            <p:ph type="title"/>
          </p:nvPr>
        </p:nvSpPr>
        <p:spPr/>
        <p:txBody>
          <a:bodyPr/>
          <a:lstStyle/>
          <a:p>
            <a:r>
              <a:rPr lang="en-US" dirty="0"/>
              <a:t>Task III: </a:t>
            </a:r>
            <a:r>
              <a:rPr lang="en-US" altLang="zh-TW" dirty="0"/>
              <a:t>Ransomware Payload &amp; PQC KEM </a:t>
            </a:r>
            <a:endParaRPr lang="en-US" dirty="0"/>
          </a:p>
        </p:txBody>
      </p:sp>
    </p:spTree>
    <p:extLst>
      <p:ext uri="{BB962C8B-B14F-4D97-AF65-F5344CB8AC3E}">
        <p14:creationId xmlns:p14="http://schemas.microsoft.com/office/powerpoint/2010/main" val="3390450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E73E5-E638-4D9E-C089-ADC6254FE9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9743BB-5501-7F91-E119-4883CC770BFD}"/>
              </a:ext>
            </a:extLst>
          </p:cNvPr>
          <p:cNvSpPr>
            <a:spLocks noGrp="1"/>
          </p:cNvSpPr>
          <p:nvPr>
            <p:ph idx="1"/>
          </p:nvPr>
        </p:nvSpPr>
        <p:spPr>
          <a:xfrm>
            <a:off x="912291" y="1604901"/>
            <a:ext cx="9291075" cy="4306794"/>
          </a:xfrm>
        </p:spPr>
        <p:txBody>
          <a:bodyPr/>
          <a:lstStyle/>
          <a:p>
            <a:r>
              <a:rPr lang="en-US" dirty="0">
                <a:solidFill>
                  <a:srgbClr val="0E3F96"/>
                </a:solidFill>
              </a:rPr>
              <a:t>Server API Endpoint</a:t>
            </a:r>
          </a:p>
          <a:p>
            <a:pPr lvl="1"/>
            <a:r>
              <a:rPr lang="en-US" dirty="0"/>
              <a:t>  GET </a:t>
            </a:r>
            <a:r>
              <a:rPr lang="en-US" dirty="0">
                <a:hlinkClick r:id="rId3"/>
              </a:rPr>
              <a:t>http://140.113.207.249:8080/kem/public-key</a:t>
            </a:r>
            <a:endParaRPr lang="en-US" dirty="0"/>
          </a:p>
          <a:p>
            <a:pPr lvl="2"/>
            <a:r>
              <a:rPr lang="en" altLang="zh-TW" dirty="0"/>
              <a:t>Example response</a:t>
            </a:r>
          </a:p>
          <a:p>
            <a:pPr lvl="3"/>
            <a:r>
              <a:rPr lang="en-US" dirty="0"/>
              <a:t> {"</a:t>
            </a:r>
            <a:r>
              <a:rPr lang="en-US" dirty="0" err="1"/>
              <a:t>session_id</a:t>
            </a:r>
            <a:r>
              <a:rPr lang="en-US" dirty="0"/>
              <a:t>": "example-session-id","</a:t>
            </a:r>
            <a:r>
              <a:rPr lang="en-US" dirty="0" err="1"/>
              <a:t>public_key</a:t>
            </a:r>
            <a:r>
              <a:rPr lang="en-US" dirty="0"/>
              <a:t>": "base64-public-key"}</a:t>
            </a:r>
          </a:p>
          <a:p>
            <a:pPr marL="1085850" lvl="3" indent="0">
              <a:buNone/>
            </a:pPr>
            <a:endParaRPr lang="en-US" dirty="0"/>
          </a:p>
          <a:p>
            <a:pPr lvl="1"/>
            <a:r>
              <a:rPr lang="en-US" dirty="0"/>
              <a:t> POST </a:t>
            </a:r>
            <a:r>
              <a:rPr lang="en-US" dirty="0">
                <a:hlinkClick r:id="rId4"/>
              </a:rPr>
              <a:t>http://</a:t>
            </a:r>
            <a:r>
              <a:rPr lang="en-US" altLang="zh-TW" dirty="0">
                <a:hlinkClick r:id="rId4"/>
              </a:rPr>
              <a:t>140.113.207.249:8080</a:t>
            </a:r>
            <a:r>
              <a:rPr lang="en-US" dirty="0">
                <a:hlinkClick r:id="rId4"/>
              </a:rPr>
              <a:t>/kem/decapsulate</a:t>
            </a:r>
            <a:endParaRPr lang="en-US" dirty="0"/>
          </a:p>
          <a:p>
            <a:pPr lvl="2"/>
            <a:r>
              <a:rPr lang="en-US" dirty="0"/>
              <a:t>Content-Type: application/</a:t>
            </a:r>
            <a:r>
              <a:rPr lang="en-US" dirty="0" err="1"/>
              <a:t>json</a:t>
            </a:r>
            <a:endParaRPr lang="en-US" dirty="0"/>
          </a:p>
          <a:p>
            <a:pPr lvl="2"/>
            <a:r>
              <a:rPr lang="en-US" dirty="0"/>
              <a:t>Request body:</a:t>
            </a:r>
          </a:p>
          <a:p>
            <a:pPr lvl="3"/>
            <a:r>
              <a:rPr lang="en-US" dirty="0"/>
              <a:t> {"</a:t>
            </a:r>
            <a:r>
              <a:rPr lang="en-US" dirty="0" err="1"/>
              <a:t>session_id</a:t>
            </a:r>
            <a:r>
              <a:rPr lang="en-US" dirty="0"/>
              <a:t>": "example-session-id", "ciphertext": "base64-ciphertext"}</a:t>
            </a:r>
          </a:p>
          <a:p>
            <a:pPr lvl="2"/>
            <a:r>
              <a:rPr lang="en-US" dirty="0"/>
              <a:t>Example response : </a:t>
            </a:r>
          </a:p>
          <a:p>
            <a:pPr lvl="3"/>
            <a:r>
              <a:rPr lang="en-US" dirty="0"/>
              <a:t> { "key": "32_hex_characters", "iv": "16_hex_characters"}</a:t>
            </a:r>
          </a:p>
          <a:p>
            <a:pPr lvl="3"/>
            <a:r>
              <a:rPr lang="en-US" dirty="0"/>
              <a:t> Use this Key and IV to encrypt your jpg files.</a:t>
            </a:r>
          </a:p>
          <a:p>
            <a:pPr lvl="2"/>
            <a:endParaRPr lang="en-US" dirty="0"/>
          </a:p>
          <a:p>
            <a:pPr marL="1085850" lvl="3" indent="0">
              <a:buNone/>
            </a:pPr>
            <a:r>
              <a:rPr lang="en-US" dirty="0"/>
              <a:t>	</a:t>
            </a:r>
          </a:p>
          <a:p>
            <a:pPr marL="1085850" lvl="3" indent="0">
              <a:buNone/>
            </a:pPr>
            <a:r>
              <a:rPr lang="en-US" dirty="0"/>
              <a:t>	</a:t>
            </a:r>
          </a:p>
          <a:p>
            <a:pPr marL="1085850" lvl="3" indent="0">
              <a:buNone/>
            </a:pPr>
            <a:r>
              <a:rPr lang="en-US" dirty="0"/>
              <a:t>		</a:t>
            </a:r>
          </a:p>
          <a:p>
            <a:pPr marL="1085850" lvl="3" indent="0">
              <a:buNone/>
            </a:pPr>
            <a:endParaRPr lang="en-US" dirty="0"/>
          </a:p>
          <a:p>
            <a:pPr marL="1085850" lvl="3" indent="0">
              <a:buNone/>
            </a:pPr>
            <a:endParaRPr lang="en-US" dirty="0"/>
          </a:p>
          <a:p>
            <a:pPr lvl="1"/>
            <a:endParaRPr lang="en-US" dirty="0"/>
          </a:p>
        </p:txBody>
      </p:sp>
      <p:sp>
        <p:nvSpPr>
          <p:cNvPr id="3" name="Slide Number Placeholder 2">
            <a:extLst>
              <a:ext uri="{FF2B5EF4-FFF2-40B4-BE49-F238E27FC236}">
                <a16:creationId xmlns:a16="http://schemas.microsoft.com/office/drawing/2014/main" id="{71127602-49D9-9914-FEC4-2E154452122E}"/>
              </a:ext>
            </a:extLst>
          </p:cNvPr>
          <p:cNvSpPr>
            <a:spLocks noGrp="1"/>
          </p:cNvSpPr>
          <p:nvPr>
            <p:ph type="sldNum" sz="quarter" idx="10"/>
          </p:nvPr>
        </p:nvSpPr>
        <p:spPr/>
        <p:txBody>
          <a:bodyPr/>
          <a:lstStyle/>
          <a:p>
            <a:fld id="{8D3C0205-A4ED-49FA-A528-855184B0DC67}" type="slidenum">
              <a:rPr lang="en-US" altLang="en-US" smtClean="0"/>
              <a:pPr/>
              <a:t>10</a:t>
            </a:fld>
            <a:endParaRPr lang="en-US" altLang="en-US" dirty="0"/>
          </a:p>
        </p:txBody>
      </p:sp>
      <p:sp>
        <p:nvSpPr>
          <p:cNvPr id="4" name="Title 3">
            <a:extLst>
              <a:ext uri="{FF2B5EF4-FFF2-40B4-BE49-F238E27FC236}">
                <a16:creationId xmlns:a16="http://schemas.microsoft.com/office/drawing/2014/main" id="{BFCE6AF7-CE2A-D8CB-56E1-F2CCA204119E}"/>
              </a:ext>
            </a:extLst>
          </p:cNvPr>
          <p:cNvSpPr>
            <a:spLocks noGrp="1"/>
          </p:cNvSpPr>
          <p:nvPr>
            <p:ph type="title"/>
          </p:nvPr>
        </p:nvSpPr>
        <p:spPr/>
        <p:txBody>
          <a:bodyPr/>
          <a:lstStyle/>
          <a:p>
            <a:r>
              <a:rPr lang="en-US" dirty="0"/>
              <a:t>Task III: </a:t>
            </a:r>
            <a:r>
              <a:rPr lang="en-US" altLang="zh-TW" dirty="0"/>
              <a:t>Ransomware Payload &amp; PQC KEM </a:t>
            </a:r>
            <a:endParaRPr lang="en-US" dirty="0"/>
          </a:p>
        </p:txBody>
      </p:sp>
    </p:spTree>
    <p:extLst>
      <p:ext uri="{BB962C8B-B14F-4D97-AF65-F5344CB8AC3E}">
        <p14:creationId xmlns:p14="http://schemas.microsoft.com/office/powerpoint/2010/main" val="3001444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0B212-EB51-55BE-875A-99B7B25F86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9EA210-7ADF-E20B-6AAF-0D72E2F7EAD0}"/>
              </a:ext>
            </a:extLst>
          </p:cNvPr>
          <p:cNvSpPr>
            <a:spLocks noGrp="1"/>
          </p:cNvSpPr>
          <p:nvPr>
            <p:ph idx="1"/>
          </p:nvPr>
        </p:nvSpPr>
        <p:spPr>
          <a:xfrm>
            <a:off x="912291" y="1604901"/>
            <a:ext cx="11123076" cy="4306794"/>
          </a:xfrm>
        </p:spPr>
        <p:txBody>
          <a:bodyPr/>
          <a:lstStyle/>
          <a:p>
            <a:r>
              <a:rPr lang="en-US" dirty="0">
                <a:solidFill>
                  <a:srgbClr val="0E3F96"/>
                </a:solidFill>
              </a:rPr>
              <a:t>Note : You </a:t>
            </a:r>
            <a:r>
              <a:rPr lang="en-US" dirty="0">
                <a:solidFill>
                  <a:srgbClr val="C00000"/>
                </a:solidFill>
              </a:rPr>
              <a:t>must</a:t>
            </a:r>
            <a:r>
              <a:rPr lang="en-US" dirty="0">
                <a:solidFill>
                  <a:srgbClr val="0E3F96"/>
                </a:solidFill>
              </a:rPr>
              <a:t> </a:t>
            </a:r>
            <a:r>
              <a:rPr lang="en-US" dirty="0">
                <a:solidFill>
                  <a:srgbClr val="C00000"/>
                </a:solidFill>
              </a:rPr>
              <a:t>log the Key and IV </a:t>
            </a:r>
            <a:r>
              <a:rPr lang="en-US" dirty="0">
                <a:solidFill>
                  <a:srgbClr val="0E3F96"/>
                </a:solidFill>
              </a:rPr>
              <a:t>you obtained from the key server in the terminal of the attacker container.</a:t>
            </a:r>
          </a:p>
          <a:p>
            <a:pPr lvl="1"/>
            <a:r>
              <a:rPr lang="en-US" altLang="zh-TW" dirty="0"/>
              <a:t> Other debug logs are allowed.</a:t>
            </a:r>
          </a:p>
          <a:p>
            <a:pPr marL="400050" lvl="1" indent="0">
              <a:buNone/>
            </a:pPr>
            <a:endParaRPr lang="en-US" dirty="0">
              <a:solidFill>
                <a:srgbClr val="0E3F96"/>
              </a:solidFill>
            </a:endParaRPr>
          </a:p>
          <a:p>
            <a:r>
              <a:rPr lang="en-US" dirty="0">
                <a:solidFill>
                  <a:srgbClr val="0E3F96"/>
                </a:solidFill>
              </a:rPr>
              <a:t>If the log cannot be found in the </a:t>
            </a:r>
            <a:r>
              <a:rPr lang="en-US" altLang="zh-TW" dirty="0">
                <a:solidFill>
                  <a:srgbClr val="0E3F96"/>
                </a:solidFill>
              </a:rPr>
              <a:t>terminal, we would regard image decryption as failed.</a:t>
            </a:r>
          </a:p>
          <a:p>
            <a:pPr lvl="1"/>
            <a:endParaRPr lang="en-US" dirty="0">
              <a:solidFill>
                <a:srgbClr val="0E3F96"/>
              </a:solidFill>
            </a:endParaRPr>
          </a:p>
          <a:p>
            <a:r>
              <a:rPr lang="en-US" dirty="0">
                <a:solidFill>
                  <a:srgbClr val="0E3F96"/>
                </a:solidFill>
              </a:rPr>
              <a:t>Log Format : </a:t>
            </a:r>
          </a:p>
          <a:p>
            <a:endParaRPr lang="en-US" dirty="0">
              <a:solidFill>
                <a:srgbClr val="0E3F96"/>
              </a:solidFill>
            </a:endParaRPr>
          </a:p>
          <a:p>
            <a:pPr marL="400050" lvl="1" indent="0">
              <a:buNone/>
            </a:pPr>
            <a:r>
              <a:rPr lang="en-US" dirty="0">
                <a:solidFill>
                  <a:srgbClr val="0E3F96"/>
                </a:solidFill>
              </a:rPr>
              <a:t>	</a:t>
            </a:r>
            <a:endParaRPr lang="en-US" dirty="0"/>
          </a:p>
          <a:p>
            <a:pPr marL="1085850" lvl="3" indent="0">
              <a:buNone/>
            </a:pPr>
            <a:r>
              <a:rPr lang="en-US" dirty="0"/>
              <a:t>	</a:t>
            </a:r>
          </a:p>
          <a:p>
            <a:pPr marL="1085850" lvl="3" indent="0">
              <a:buNone/>
            </a:pPr>
            <a:r>
              <a:rPr lang="en-US" dirty="0"/>
              <a:t>	</a:t>
            </a:r>
          </a:p>
          <a:p>
            <a:pPr marL="1085850" lvl="3" indent="0">
              <a:buNone/>
            </a:pPr>
            <a:r>
              <a:rPr lang="en-US" dirty="0"/>
              <a:t>		</a:t>
            </a:r>
          </a:p>
          <a:p>
            <a:pPr marL="1085850" lvl="3" indent="0">
              <a:buNone/>
            </a:pPr>
            <a:endParaRPr lang="en-US" dirty="0"/>
          </a:p>
          <a:p>
            <a:pPr marL="1085850" lvl="3" indent="0">
              <a:buNone/>
            </a:pPr>
            <a:endParaRPr lang="en-US" dirty="0"/>
          </a:p>
          <a:p>
            <a:pPr lvl="1"/>
            <a:endParaRPr lang="en-US" dirty="0"/>
          </a:p>
        </p:txBody>
      </p:sp>
      <p:sp>
        <p:nvSpPr>
          <p:cNvPr id="3" name="Slide Number Placeholder 2">
            <a:extLst>
              <a:ext uri="{FF2B5EF4-FFF2-40B4-BE49-F238E27FC236}">
                <a16:creationId xmlns:a16="http://schemas.microsoft.com/office/drawing/2014/main" id="{E117AA8D-191D-B54E-E0A5-CBC902830B53}"/>
              </a:ext>
            </a:extLst>
          </p:cNvPr>
          <p:cNvSpPr>
            <a:spLocks noGrp="1"/>
          </p:cNvSpPr>
          <p:nvPr>
            <p:ph type="sldNum" sz="quarter" idx="10"/>
          </p:nvPr>
        </p:nvSpPr>
        <p:spPr/>
        <p:txBody>
          <a:bodyPr/>
          <a:lstStyle/>
          <a:p>
            <a:fld id="{8D3C0205-A4ED-49FA-A528-855184B0DC67}" type="slidenum">
              <a:rPr lang="en-US" altLang="en-US" smtClean="0"/>
              <a:pPr/>
              <a:t>11</a:t>
            </a:fld>
            <a:endParaRPr lang="en-US" altLang="en-US" dirty="0"/>
          </a:p>
        </p:txBody>
      </p:sp>
      <p:sp>
        <p:nvSpPr>
          <p:cNvPr id="4" name="Title 3">
            <a:extLst>
              <a:ext uri="{FF2B5EF4-FFF2-40B4-BE49-F238E27FC236}">
                <a16:creationId xmlns:a16="http://schemas.microsoft.com/office/drawing/2014/main" id="{95E9CE6B-15FD-773D-821A-3F623800BCAC}"/>
              </a:ext>
            </a:extLst>
          </p:cNvPr>
          <p:cNvSpPr>
            <a:spLocks noGrp="1"/>
          </p:cNvSpPr>
          <p:nvPr>
            <p:ph type="title"/>
          </p:nvPr>
        </p:nvSpPr>
        <p:spPr/>
        <p:txBody>
          <a:bodyPr/>
          <a:lstStyle/>
          <a:p>
            <a:r>
              <a:rPr lang="en-US" dirty="0"/>
              <a:t>Task III: </a:t>
            </a:r>
            <a:r>
              <a:rPr lang="en-US" altLang="zh-TW" dirty="0"/>
              <a:t>Ransomware Payload &amp; PQC KEM </a:t>
            </a:r>
            <a:endParaRPr lang="en-US" dirty="0"/>
          </a:p>
        </p:txBody>
      </p:sp>
      <p:pic>
        <p:nvPicPr>
          <p:cNvPr id="7" name="圖片 6">
            <a:extLst>
              <a:ext uri="{FF2B5EF4-FFF2-40B4-BE49-F238E27FC236}">
                <a16:creationId xmlns:a16="http://schemas.microsoft.com/office/drawing/2014/main" id="{543F8D9C-EC7C-A23C-D9AB-E9B6D0DE4F32}"/>
              </a:ext>
            </a:extLst>
          </p:cNvPr>
          <p:cNvPicPr>
            <a:picLocks noChangeAspect="1"/>
          </p:cNvPicPr>
          <p:nvPr/>
        </p:nvPicPr>
        <p:blipFill>
          <a:blip r:embed="rId3"/>
          <a:stretch>
            <a:fillRect/>
          </a:stretch>
        </p:blipFill>
        <p:spPr>
          <a:xfrm>
            <a:off x="1478776" y="5310897"/>
            <a:ext cx="8724591" cy="950203"/>
          </a:xfrm>
          <a:prstGeom prst="rect">
            <a:avLst/>
          </a:prstGeom>
        </p:spPr>
      </p:pic>
      <p:sp>
        <p:nvSpPr>
          <p:cNvPr id="8" name="矩形 7">
            <a:extLst>
              <a:ext uri="{FF2B5EF4-FFF2-40B4-BE49-F238E27FC236}">
                <a16:creationId xmlns:a16="http://schemas.microsoft.com/office/drawing/2014/main" id="{DB38C443-8368-E059-5E8C-AFB26DE64F63}"/>
              </a:ext>
            </a:extLst>
          </p:cNvPr>
          <p:cNvSpPr/>
          <p:nvPr/>
        </p:nvSpPr>
        <p:spPr bwMode="auto">
          <a:xfrm>
            <a:off x="1478776" y="5772742"/>
            <a:ext cx="6458665" cy="27790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TW" altLang="en-US" sz="2400" b="0" i="0" u="none" strike="noStrike" cap="none" normalizeH="0" baseline="0">
              <a:ln>
                <a:noFill/>
              </a:ln>
              <a:solidFill>
                <a:srgbClr val="000000"/>
              </a:solidFill>
              <a:effectLst/>
              <a:latin typeface="Arial" charset="0"/>
              <a:ea typeface="ＭＳ Ｐゴシック" charset="0"/>
            </a:endParaRPr>
          </a:p>
        </p:txBody>
      </p:sp>
    </p:spTree>
    <p:extLst>
      <p:ext uri="{BB962C8B-B14F-4D97-AF65-F5344CB8AC3E}">
        <p14:creationId xmlns:p14="http://schemas.microsoft.com/office/powerpoint/2010/main" val="389910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291" y="1475334"/>
            <a:ext cx="11279709" cy="4306794"/>
          </a:xfrm>
        </p:spPr>
        <p:txBody>
          <a:bodyPr/>
          <a:lstStyle/>
          <a:p>
            <a:r>
              <a:rPr lang="en-US" dirty="0">
                <a:solidFill>
                  <a:srgbClr val="0E3F96"/>
                </a:solidFill>
              </a:rPr>
              <a:t>You need to develop/run your program in the given containers.</a:t>
            </a:r>
          </a:p>
          <a:p>
            <a:pPr lvl="1"/>
            <a:r>
              <a:rPr lang="en-US" altLang="zh-TW" sz="2200" dirty="0"/>
              <a:t> Resource is provided in /app</a:t>
            </a:r>
          </a:p>
          <a:p>
            <a:pPr lvl="2"/>
            <a:r>
              <a:rPr lang="en-US" altLang="zh-TW" sz="1800" dirty="0"/>
              <a:t>username/password: csc2026/csc2026</a:t>
            </a:r>
          </a:p>
          <a:p>
            <a:pPr lvl="2"/>
            <a:r>
              <a:rPr lang="en-US" altLang="zh-TW" sz="1800" dirty="0"/>
              <a:t>Note: the victim’s password will be changed based on a new victim.dat file in the demo</a:t>
            </a:r>
          </a:p>
          <a:p>
            <a:pPr lvl="1"/>
            <a:r>
              <a:rPr lang="en-US" sz="2200" dirty="0"/>
              <a:t> Please complete your project under the path: </a:t>
            </a:r>
            <a:r>
              <a:rPr lang="en" altLang="zh-TW" sz="2000" dirty="0"/>
              <a:t>/home/csc2026/${yourstudentID}</a:t>
            </a:r>
            <a:endParaRPr lang="en-US" altLang="zh-TW" dirty="0"/>
          </a:p>
          <a:p>
            <a:pPr>
              <a:spcBef>
                <a:spcPts val="1200"/>
              </a:spcBef>
            </a:pPr>
            <a:r>
              <a:rPr lang="en-US" dirty="0">
                <a:solidFill>
                  <a:srgbClr val="0E3F96"/>
                </a:solidFill>
              </a:rPr>
              <a:t>You are allowed to use C/C++, Shell Script or/and Python (Recommended).</a:t>
            </a:r>
          </a:p>
          <a:p>
            <a:pPr>
              <a:spcBef>
                <a:spcPts val="1200"/>
              </a:spcBef>
            </a:pPr>
            <a:r>
              <a:rPr lang="en-US" dirty="0">
                <a:solidFill>
                  <a:srgbClr val="0E3F96"/>
                </a:solidFill>
              </a:rPr>
              <a:t>You are allowed to team up; each team has at most 2 students</a:t>
            </a:r>
          </a:p>
          <a:p>
            <a:pPr lvl="1"/>
            <a:r>
              <a:rPr lang="en-US" dirty="0"/>
              <a:t> Teams: discussions are allowed, but no collaboration</a:t>
            </a:r>
          </a:p>
          <a:p>
            <a:pPr>
              <a:spcBef>
                <a:spcPts val="1200"/>
              </a:spcBef>
            </a:pPr>
            <a:r>
              <a:rPr lang="en-US" dirty="0">
                <a:solidFill>
                  <a:srgbClr val="0E3F96"/>
                </a:solidFill>
              </a:rPr>
              <a:t>Please submit your source codes to E3</a:t>
            </a:r>
          </a:p>
          <a:p>
            <a:pPr>
              <a:spcBef>
                <a:spcPts val="1200"/>
              </a:spcBef>
            </a:pPr>
            <a:r>
              <a:rPr lang="en-US" dirty="0">
                <a:solidFill>
                  <a:srgbClr val="0E3F96"/>
                </a:solidFill>
              </a:rPr>
              <a:t>Please email your questions to csc2026@nemslab.tw</a:t>
            </a:r>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12</a:t>
            </a:fld>
            <a:endParaRPr lang="en-US" altLang="en-US" dirty="0"/>
          </a:p>
        </p:txBody>
      </p:sp>
      <p:sp>
        <p:nvSpPr>
          <p:cNvPr id="4" name="Title 3"/>
          <p:cNvSpPr>
            <a:spLocks noGrp="1"/>
          </p:cNvSpPr>
          <p:nvPr>
            <p:ph type="title"/>
          </p:nvPr>
        </p:nvSpPr>
        <p:spPr/>
        <p:txBody>
          <a:bodyPr/>
          <a:lstStyle/>
          <a:p>
            <a:r>
              <a:rPr lang="en-US" dirty="0"/>
              <a:t>Requirements</a:t>
            </a:r>
          </a:p>
        </p:txBody>
      </p:sp>
    </p:spTree>
    <p:custDataLst>
      <p:tags r:id="rId1"/>
    </p:custDataLst>
    <p:extLst>
      <p:ext uri="{BB962C8B-B14F-4D97-AF65-F5344CB8AC3E}">
        <p14:creationId xmlns:p14="http://schemas.microsoft.com/office/powerpoint/2010/main" val="22981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C7998-9A63-4622-8246-3DCFEE7252FA}"/>
              </a:ext>
            </a:extLst>
          </p:cNvPr>
          <p:cNvSpPr>
            <a:spLocks noGrp="1"/>
          </p:cNvSpPr>
          <p:nvPr>
            <p:ph idx="1"/>
          </p:nvPr>
        </p:nvSpPr>
        <p:spPr>
          <a:xfrm>
            <a:off x="912291" y="1649506"/>
            <a:ext cx="10844280" cy="4306794"/>
          </a:xfrm>
        </p:spPr>
        <p:txBody>
          <a:bodyPr/>
          <a:lstStyle/>
          <a:p>
            <a:r>
              <a:rPr lang="en" altLang="zh-TW" dirty="0">
                <a:solidFill>
                  <a:srgbClr val="0E3F96"/>
                </a:solidFill>
              </a:rPr>
              <a:t>Build the project3 image</a:t>
            </a:r>
          </a:p>
          <a:p>
            <a:pPr lvl="1"/>
            <a:r>
              <a:rPr lang="en" sz="2000" dirty="0"/>
              <a:t> </a:t>
            </a:r>
            <a:r>
              <a:rPr lang="en" sz="2000" dirty="0">
                <a:solidFill>
                  <a:srgbClr val="0E3F96"/>
                </a:solidFill>
              </a:rPr>
              <a:t>Linux</a:t>
            </a:r>
            <a:r>
              <a:rPr lang="en" sz="2000" dirty="0"/>
              <a:t>: “ docker compose build ”</a:t>
            </a:r>
          </a:p>
          <a:p>
            <a:pPr marL="400050" lvl="1" indent="0">
              <a:buNone/>
            </a:pPr>
            <a:endParaRPr lang="en" altLang="zh-TW" sz="2000" dirty="0"/>
          </a:p>
          <a:p>
            <a:r>
              <a:rPr lang="en" altLang="zh-TW" dirty="0">
                <a:solidFill>
                  <a:srgbClr val="0E3F96"/>
                </a:solidFill>
              </a:rPr>
              <a:t>Create the project3 containers </a:t>
            </a:r>
          </a:p>
          <a:p>
            <a:pPr lvl="1"/>
            <a:r>
              <a:rPr lang="en" altLang="zh-TW" sz="2000" dirty="0"/>
              <a:t> </a:t>
            </a:r>
            <a:r>
              <a:rPr lang="en" altLang="zh-TW" sz="2000" dirty="0">
                <a:solidFill>
                  <a:srgbClr val="0E3F96"/>
                </a:solidFill>
              </a:rPr>
              <a:t>Linux: </a:t>
            </a:r>
            <a:r>
              <a:rPr lang="en" altLang="zh-TW" sz="2000" dirty="0"/>
              <a:t>“ d</a:t>
            </a:r>
            <a:r>
              <a:rPr lang="en-US" altLang="zh-TW" sz="2000" dirty="0" err="1"/>
              <a:t>ocker</a:t>
            </a:r>
            <a:r>
              <a:rPr lang="en-US" altLang="zh-TW" sz="2000" dirty="0"/>
              <a:t> compose up -d </a:t>
            </a:r>
            <a:r>
              <a:rPr lang="en" altLang="zh-TW" sz="2000" dirty="0"/>
              <a:t>”</a:t>
            </a:r>
          </a:p>
          <a:p>
            <a:pPr lvl="1"/>
            <a:endParaRPr lang="en" altLang="zh-TW" sz="2000" dirty="0">
              <a:solidFill>
                <a:srgbClr val="0E3F96"/>
              </a:solidFill>
            </a:endParaRPr>
          </a:p>
          <a:p>
            <a:r>
              <a:rPr lang="en" altLang="zh-TW" dirty="0">
                <a:solidFill>
                  <a:srgbClr val="0E3F96"/>
                </a:solidFill>
              </a:rPr>
              <a:t>Enter the attacker container</a:t>
            </a:r>
          </a:p>
          <a:p>
            <a:pPr lvl="1"/>
            <a:r>
              <a:rPr lang="en" altLang="zh-TW" sz="2000" dirty="0"/>
              <a:t> </a:t>
            </a:r>
            <a:r>
              <a:rPr lang="en" altLang="zh-TW" sz="2000" dirty="0">
                <a:solidFill>
                  <a:srgbClr val="0E3F96"/>
                </a:solidFill>
              </a:rPr>
              <a:t>Linux: “ </a:t>
            </a:r>
            <a:r>
              <a:rPr lang="en-US" altLang="zh-TW" sz="2000" dirty="0"/>
              <a:t>docker exec -it attacker bash  </a:t>
            </a:r>
            <a:r>
              <a:rPr lang="en" altLang="zh-TW" sz="2000" dirty="0"/>
              <a:t>”</a:t>
            </a:r>
          </a:p>
          <a:p>
            <a:pPr marL="400050" lvl="1" indent="0">
              <a:buNone/>
            </a:pPr>
            <a:endParaRPr lang="en" altLang="zh-TW" sz="2000" dirty="0"/>
          </a:p>
          <a:p>
            <a:r>
              <a:rPr lang="en" altLang="zh-TW" dirty="0">
                <a:solidFill>
                  <a:srgbClr val="0E3F96"/>
                </a:solidFill>
              </a:rPr>
              <a:t>Enter the </a:t>
            </a:r>
            <a:r>
              <a:rPr lang="en-US" altLang="zh-TW" dirty="0">
                <a:solidFill>
                  <a:srgbClr val="0E3F96"/>
                </a:solidFill>
              </a:rPr>
              <a:t>victim</a:t>
            </a:r>
            <a:r>
              <a:rPr lang="en" altLang="zh-TW" dirty="0">
                <a:solidFill>
                  <a:srgbClr val="0E3F96"/>
                </a:solidFill>
              </a:rPr>
              <a:t> container</a:t>
            </a:r>
          </a:p>
          <a:p>
            <a:pPr lvl="1"/>
            <a:r>
              <a:rPr lang="en" altLang="zh-TW" sz="2000" dirty="0"/>
              <a:t> </a:t>
            </a:r>
            <a:r>
              <a:rPr lang="en" altLang="zh-TW" sz="2000" dirty="0">
                <a:solidFill>
                  <a:srgbClr val="0E3F96"/>
                </a:solidFill>
              </a:rPr>
              <a:t>Linux: “ </a:t>
            </a:r>
            <a:r>
              <a:rPr lang="en-US" altLang="zh-TW" sz="2000" dirty="0"/>
              <a:t>docker exec -it victim bash </a:t>
            </a:r>
            <a:r>
              <a:rPr lang="en" altLang="zh-TW" sz="2000" dirty="0"/>
              <a:t>”</a:t>
            </a:r>
            <a:endParaRPr lang="en" altLang="zh-TW" sz="2400" dirty="0"/>
          </a:p>
          <a:p>
            <a:endParaRPr lang="en-US" sz="2400" b="1" dirty="0">
              <a:solidFill>
                <a:srgbClr val="0E3F96"/>
              </a:solidFill>
            </a:endParaRPr>
          </a:p>
          <a:p>
            <a:endParaRPr lang="en-US" dirty="0"/>
          </a:p>
          <a:p>
            <a:pPr marL="400050" lvl="1" indent="0">
              <a:buNone/>
            </a:pPr>
            <a:endParaRPr lang="en-US" altLang="zh-TW" dirty="0"/>
          </a:p>
          <a:p>
            <a:pPr lvl="2"/>
            <a:endParaRPr lang="en-US" dirty="0"/>
          </a:p>
        </p:txBody>
      </p:sp>
      <p:sp>
        <p:nvSpPr>
          <p:cNvPr id="3" name="Slide Number Placeholder 2">
            <a:extLst>
              <a:ext uri="{FF2B5EF4-FFF2-40B4-BE49-F238E27FC236}">
                <a16:creationId xmlns:a16="http://schemas.microsoft.com/office/drawing/2014/main" id="{846A2A92-CD9E-40B6-A643-2F9AA48433BB}"/>
              </a:ext>
            </a:extLst>
          </p:cNvPr>
          <p:cNvSpPr>
            <a:spLocks noGrp="1"/>
          </p:cNvSpPr>
          <p:nvPr>
            <p:ph type="sldNum" sz="quarter" idx="10"/>
          </p:nvPr>
        </p:nvSpPr>
        <p:spPr/>
        <p:txBody>
          <a:bodyPr/>
          <a:lstStyle/>
          <a:p>
            <a:fld id="{8D3C0205-A4ED-49FA-A528-855184B0DC67}" type="slidenum">
              <a:rPr lang="en-US" altLang="en-US" smtClean="0"/>
              <a:pPr/>
              <a:t>13</a:t>
            </a:fld>
            <a:endParaRPr lang="en-US" altLang="en-US" dirty="0"/>
          </a:p>
        </p:txBody>
      </p:sp>
      <p:sp>
        <p:nvSpPr>
          <p:cNvPr id="4" name="Title 3">
            <a:extLst>
              <a:ext uri="{FF2B5EF4-FFF2-40B4-BE49-F238E27FC236}">
                <a16:creationId xmlns:a16="http://schemas.microsoft.com/office/drawing/2014/main" id="{56636D4B-C714-4177-A389-4D2C974DD6BC}"/>
              </a:ext>
            </a:extLst>
          </p:cNvPr>
          <p:cNvSpPr>
            <a:spLocks noGrp="1"/>
          </p:cNvSpPr>
          <p:nvPr>
            <p:ph type="title"/>
          </p:nvPr>
        </p:nvSpPr>
        <p:spPr>
          <a:xfrm>
            <a:off x="912291" y="596900"/>
            <a:ext cx="10754990" cy="787400"/>
          </a:xfrm>
        </p:spPr>
        <p:txBody>
          <a:bodyPr/>
          <a:lstStyle/>
          <a:p>
            <a:r>
              <a:rPr lang="en-US" dirty="0">
                <a:solidFill>
                  <a:srgbClr val="C00000"/>
                </a:solidFill>
              </a:rPr>
              <a:t>Important: How to set up environment?</a:t>
            </a:r>
          </a:p>
        </p:txBody>
      </p:sp>
    </p:spTree>
    <p:extLst>
      <p:ext uri="{BB962C8B-B14F-4D97-AF65-F5344CB8AC3E}">
        <p14:creationId xmlns:p14="http://schemas.microsoft.com/office/powerpoint/2010/main" val="4049230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C7998-9A63-4622-8246-3DCFEE7252FA}"/>
              </a:ext>
            </a:extLst>
          </p:cNvPr>
          <p:cNvSpPr>
            <a:spLocks noGrp="1"/>
          </p:cNvSpPr>
          <p:nvPr>
            <p:ph idx="1"/>
          </p:nvPr>
        </p:nvSpPr>
        <p:spPr>
          <a:xfrm>
            <a:off x="912291" y="1649506"/>
            <a:ext cx="10844280" cy="4306794"/>
          </a:xfrm>
        </p:spPr>
        <p:txBody>
          <a:bodyPr/>
          <a:lstStyle/>
          <a:p>
            <a:r>
              <a:rPr lang="en-US" dirty="0">
                <a:solidFill>
                  <a:srgbClr val="0E3F96"/>
                </a:solidFill>
              </a:rPr>
              <a:t>Must provide a </a:t>
            </a:r>
            <a:r>
              <a:rPr lang="en-US" b="1" dirty="0" err="1">
                <a:solidFill>
                  <a:srgbClr val="0E3F96"/>
                </a:solidFill>
              </a:rPr>
              <a:t>Makefile</a:t>
            </a:r>
            <a:r>
              <a:rPr lang="en-US" dirty="0">
                <a:solidFill>
                  <a:srgbClr val="0E3F96"/>
                </a:solidFill>
              </a:rPr>
              <a:t> which compiles your source codes into at least two executable files: </a:t>
            </a:r>
            <a:r>
              <a:rPr lang="en-US" b="1" dirty="0" err="1">
                <a:solidFill>
                  <a:srgbClr val="0E3F96"/>
                </a:solidFill>
              </a:rPr>
              <a:t>crack_attack</a:t>
            </a:r>
            <a:r>
              <a:rPr lang="en-US" b="1" dirty="0">
                <a:solidFill>
                  <a:srgbClr val="0E3F96"/>
                </a:solidFill>
              </a:rPr>
              <a:t> </a:t>
            </a:r>
            <a:r>
              <a:rPr lang="en-US" dirty="0">
                <a:solidFill>
                  <a:srgbClr val="0E3F96"/>
                </a:solidFill>
              </a:rPr>
              <a:t>and </a:t>
            </a:r>
            <a:r>
              <a:rPr lang="en-US" b="1" dirty="0" err="1">
                <a:solidFill>
                  <a:srgbClr val="0E3F96"/>
                </a:solidFill>
              </a:rPr>
              <a:t>attack_server</a:t>
            </a:r>
            <a:endParaRPr lang="en-US" b="1" dirty="0">
              <a:solidFill>
                <a:srgbClr val="0E3F96"/>
              </a:solidFill>
            </a:endParaRPr>
          </a:p>
          <a:p>
            <a:endParaRPr lang="en-US" dirty="0"/>
          </a:p>
          <a:p>
            <a:endParaRPr lang="en-US" dirty="0"/>
          </a:p>
          <a:p>
            <a:r>
              <a:rPr lang="en-US" dirty="0">
                <a:solidFill>
                  <a:srgbClr val="0E3F96"/>
                </a:solidFill>
              </a:rPr>
              <a:t>Test requirements for your program</a:t>
            </a:r>
          </a:p>
          <a:p>
            <a:pPr lvl="1"/>
            <a:r>
              <a:rPr lang="en-US" dirty="0"/>
              <a:t> Must be run in the given containers without any additional tools or libraries</a:t>
            </a:r>
          </a:p>
          <a:p>
            <a:pPr lvl="1"/>
            <a:r>
              <a:rPr lang="en-US" dirty="0"/>
              <a:t> Must work for the following two test commands</a:t>
            </a:r>
          </a:p>
          <a:p>
            <a:pPr lvl="2"/>
            <a:r>
              <a:rPr lang="en-US" dirty="0"/>
              <a:t>./</a:t>
            </a:r>
            <a:r>
              <a:rPr lang="en-US" dirty="0" err="1"/>
              <a:t>crack_attack</a:t>
            </a:r>
            <a:r>
              <a:rPr lang="en-US" dirty="0"/>
              <a:t> &lt;Victim IP&gt; &lt;Attacker IP&gt; &lt;Attacker port&gt;</a:t>
            </a:r>
          </a:p>
          <a:p>
            <a:pPr lvl="2"/>
            <a:r>
              <a:rPr lang="en-US" dirty="0"/>
              <a:t>./</a:t>
            </a:r>
            <a:r>
              <a:rPr lang="en-US" dirty="0" err="1"/>
              <a:t>attack_server</a:t>
            </a:r>
            <a:r>
              <a:rPr lang="en-US" dirty="0"/>
              <a:t> &lt;Attacker port&gt;</a:t>
            </a:r>
            <a:endParaRPr lang="en-US" altLang="zh-TW" dirty="0"/>
          </a:p>
          <a:p>
            <a:pPr marL="400050" lvl="1" indent="0">
              <a:buNone/>
            </a:pPr>
            <a:endParaRPr lang="en-US" altLang="zh-TW" dirty="0"/>
          </a:p>
          <a:p>
            <a:pPr lvl="2"/>
            <a:endParaRPr lang="en-US" dirty="0"/>
          </a:p>
        </p:txBody>
      </p:sp>
      <p:sp>
        <p:nvSpPr>
          <p:cNvPr id="3" name="Slide Number Placeholder 2">
            <a:extLst>
              <a:ext uri="{FF2B5EF4-FFF2-40B4-BE49-F238E27FC236}">
                <a16:creationId xmlns:a16="http://schemas.microsoft.com/office/drawing/2014/main" id="{846A2A92-CD9E-40B6-A643-2F9AA48433BB}"/>
              </a:ext>
            </a:extLst>
          </p:cNvPr>
          <p:cNvSpPr>
            <a:spLocks noGrp="1"/>
          </p:cNvSpPr>
          <p:nvPr>
            <p:ph type="sldNum" sz="quarter" idx="10"/>
          </p:nvPr>
        </p:nvSpPr>
        <p:spPr/>
        <p:txBody>
          <a:bodyPr/>
          <a:lstStyle/>
          <a:p>
            <a:fld id="{8D3C0205-A4ED-49FA-A528-855184B0DC67}" type="slidenum">
              <a:rPr lang="en-US" altLang="en-US" smtClean="0"/>
              <a:pPr/>
              <a:t>14</a:t>
            </a:fld>
            <a:endParaRPr lang="en-US" altLang="en-US" dirty="0"/>
          </a:p>
        </p:txBody>
      </p:sp>
      <p:sp>
        <p:nvSpPr>
          <p:cNvPr id="4" name="Title 3">
            <a:extLst>
              <a:ext uri="{FF2B5EF4-FFF2-40B4-BE49-F238E27FC236}">
                <a16:creationId xmlns:a16="http://schemas.microsoft.com/office/drawing/2014/main" id="{56636D4B-C714-4177-A389-4D2C974DD6BC}"/>
              </a:ext>
            </a:extLst>
          </p:cNvPr>
          <p:cNvSpPr>
            <a:spLocks noGrp="1"/>
          </p:cNvSpPr>
          <p:nvPr>
            <p:ph type="title"/>
          </p:nvPr>
        </p:nvSpPr>
        <p:spPr>
          <a:xfrm>
            <a:off x="912291" y="596900"/>
            <a:ext cx="10754990" cy="787400"/>
          </a:xfrm>
        </p:spPr>
        <p:txBody>
          <a:bodyPr/>
          <a:lstStyle/>
          <a:p>
            <a:r>
              <a:rPr lang="en-US" dirty="0">
                <a:solidFill>
                  <a:srgbClr val="C00000"/>
                </a:solidFill>
              </a:rPr>
              <a:t>Important: How to Prepare Your Attack Programs?</a:t>
            </a:r>
          </a:p>
        </p:txBody>
      </p:sp>
    </p:spTree>
    <p:extLst>
      <p:ext uri="{BB962C8B-B14F-4D97-AF65-F5344CB8AC3E}">
        <p14:creationId xmlns:p14="http://schemas.microsoft.com/office/powerpoint/2010/main" val="2905712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C7998-9A63-4622-8246-3DCFEE7252FA}"/>
              </a:ext>
            </a:extLst>
          </p:cNvPr>
          <p:cNvSpPr>
            <a:spLocks noGrp="1"/>
          </p:cNvSpPr>
          <p:nvPr>
            <p:ph idx="1"/>
          </p:nvPr>
        </p:nvSpPr>
        <p:spPr>
          <a:xfrm>
            <a:off x="912291" y="1649506"/>
            <a:ext cx="10844280" cy="4306794"/>
          </a:xfrm>
        </p:spPr>
        <p:txBody>
          <a:bodyPr/>
          <a:lstStyle/>
          <a:p>
            <a:r>
              <a:rPr lang="en-US" altLang="zh-TW" sz="2400" dirty="0">
                <a:solidFill>
                  <a:srgbClr val="0E3F96"/>
                </a:solidFill>
              </a:rPr>
              <a:t>Attacker container</a:t>
            </a:r>
          </a:p>
          <a:p>
            <a:pPr lvl="1"/>
            <a:r>
              <a:rPr lang="en-US" altLang="zh-TW" sz="2000" dirty="0"/>
              <a:t> Run “make“ to compile your source codes</a:t>
            </a:r>
          </a:p>
          <a:p>
            <a:pPr lvl="1"/>
            <a:r>
              <a:rPr lang="en-US" altLang="zh-TW" sz="2000" dirty="0"/>
              <a:t> Run “./</a:t>
            </a:r>
            <a:r>
              <a:rPr lang="en-US" altLang="zh-TW" sz="2000" dirty="0" err="1"/>
              <a:t>attacker_server</a:t>
            </a:r>
            <a:r>
              <a:rPr lang="en-US" altLang="zh-TW" sz="2000" dirty="0"/>
              <a:t> &lt;Attacker port&gt;” to set up the attacker server</a:t>
            </a:r>
          </a:p>
          <a:p>
            <a:pPr lvl="1"/>
            <a:r>
              <a:rPr lang="en-US" altLang="zh-TW" sz="2000" dirty="0"/>
              <a:t> Run “./</a:t>
            </a:r>
            <a:r>
              <a:rPr lang="en-US" altLang="zh-TW" sz="2000" dirty="0" err="1"/>
              <a:t>crack_attack</a:t>
            </a:r>
            <a:r>
              <a:rPr lang="en-US" altLang="zh-TW" sz="2000" dirty="0"/>
              <a:t> &lt;Victim IP&gt; &lt;Attacker IP&gt;  &lt;Attacker port&gt;” to crack the victim’s password and infect ‘date’ in victim</a:t>
            </a:r>
          </a:p>
          <a:p>
            <a:r>
              <a:rPr lang="en-US" altLang="zh-TW" sz="2400" dirty="0">
                <a:solidFill>
                  <a:srgbClr val="0E3F96"/>
                </a:solidFill>
              </a:rPr>
              <a:t>Victim container</a:t>
            </a:r>
          </a:p>
          <a:p>
            <a:pPr lvl="1"/>
            <a:r>
              <a:rPr lang="en-US" altLang="zh-TW" sz="2000" dirty="0"/>
              <a:t> Check the size of ‘date’ and any additional files generated</a:t>
            </a:r>
          </a:p>
          <a:p>
            <a:pPr lvl="1"/>
            <a:r>
              <a:rPr lang="en-US" altLang="zh-TW" sz="2000" dirty="0"/>
              <a:t> Run 1 commands of ‘date’</a:t>
            </a:r>
          </a:p>
          <a:p>
            <a:pPr lvl="2"/>
            <a:r>
              <a:rPr lang="en-US" altLang="zh-TW" sz="1800" dirty="0"/>
              <a:t>‘date’ shall perform its original function</a:t>
            </a:r>
          </a:p>
          <a:p>
            <a:pPr lvl="2"/>
            <a:r>
              <a:rPr lang="en-US" altLang="zh-TW" sz="1800" dirty="0"/>
              <a:t>Only the jpg files in </a:t>
            </a:r>
            <a:r>
              <a:rPr lang="en-US" sz="1800" dirty="0"/>
              <a:t>/app/Pictures are encrypted with the given security context</a:t>
            </a:r>
          </a:p>
          <a:p>
            <a:pPr lvl="2"/>
            <a:r>
              <a:rPr lang="en-US" altLang="zh-TW" sz="1800" dirty="0"/>
              <a:t>A ransom graph shall show up</a:t>
            </a:r>
          </a:p>
          <a:p>
            <a:pPr lvl="1"/>
            <a:r>
              <a:rPr lang="en-US" altLang="zh-TW" sz="2000" dirty="0"/>
              <a:t> Check whether the encrypted files can be decrypted</a:t>
            </a:r>
          </a:p>
        </p:txBody>
      </p:sp>
      <p:sp>
        <p:nvSpPr>
          <p:cNvPr id="3" name="Slide Number Placeholder 2">
            <a:extLst>
              <a:ext uri="{FF2B5EF4-FFF2-40B4-BE49-F238E27FC236}">
                <a16:creationId xmlns:a16="http://schemas.microsoft.com/office/drawing/2014/main" id="{846A2A92-CD9E-40B6-A643-2F9AA48433BB}"/>
              </a:ext>
            </a:extLst>
          </p:cNvPr>
          <p:cNvSpPr>
            <a:spLocks noGrp="1"/>
          </p:cNvSpPr>
          <p:nvPr>
            <p:ph type="sldNum" sz="quarter" idx="10"/>
          </p:nvPr>
        </p:nvSpPr>
        <p:spPr/>
        <p:txBody>
          <a:bodyPr/>
          <a:lstStyle/>
          <a:p>
            <a:fld id="{8D3C0205-A4ED-49FA-A528-855184B0DC67}" type="slidenum">
              <a:rPr lang="en-US" altLang="en-US" smtClean="0"/>
              <a:pPr/>
              <a:t>15</a:t>
            </a:fld>
            <a:endParaRPr lang="en-US" altLang="en-US" dirty="0"/>
          </a:p>
        </p:txBody>
      </p:sp>
      <p:sp>
        <p:nvSpPr>
          <p:cNvPr id="4" name="Title 3">
            <a:extLst>
              <a:ext uri="{FF2B5EF4-FFF2-40B4-BE49-F238E27FC236}">
                <a16:creationId xmlns:a16="http://schemas.microsoft.com/office/drawing/2014/main" id="{56636D4B-C714-4177-A389-4D2C974DD6BC}"/>
              </a:ext>
            </a:extLst>
          </p:cNvPr>
          <p:cNvSpPr>
            <a:spLocks noGrp="1"/>
          </p:cNvSpPr>
          <p:nvPr>
            <p:ph type="title"/>
          </p:nvPr>
        </p:nvSpPr>
        <p:spPr>
          <a:xfrm>
            <a:off x="912291" y="596900"/>
            <a:ext cx="11123076" cy="787400"/>
          </a:xfrm>
        </p:spPr>
        <p:txBody>
          <a:bodyPr/>
          <a:lstStyle/>
          <a:p>
            <a:r>
              <a:rPr lang="en-US" dirty="0">
                <a:solidFill>
                  <a:srgbClr val="C00000"/>
                </a:solidFill>
              </a:rPr>
              <a:t>Important: Major Demo Steps (Not Exactly the Same)</a:t>
            </a:r>
          </a:p>
        </p:txBody>
      </p:sp>
    </p:spTree>
    <p:extLst>
      <p:ext uri="{BB962C8B-B14F-4D97-AF65-F5344CB8AC3E}">
        <p14:creationId xmlns:p14="http://schemas.microsoft.com/office/powerpoint/2010/main" val="2048553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2291" y="1649506"/>
            <a:ext cx="11123076" cy="4611594"/>
          </a:xfrm>
        </p:spPr>
        <p:txBody>
          <a:bodyPr/>
          <a:lstStyle/>
          <a:p>
            <a:r>
              <a:rPr lang="en-US" dirty="0">
                <a:solidFill>
                  <a:srgbClr val="0E3F96"/>
                </a:solidFill>
              </a:rPr>
              <a:t>Due date: 5/20 11:55 PM</a:t>
            </a:r>
            <a:r>
              <a:rPr lang="zh-TW" altLang="en-US" dirty="0">
                <a:solidFill>
                  <a:srgbClr val="0E3F96"/>
                </a:solidFill>
              </a:rPr>
              <a:t> </a:t>
            </a:r>
            <a:r>
              <a:rPr lang="en-US" altLang="zh-TW" dirty="0">
                <a:solidFill>
                  <a:srgbClr val="0E3F96"/>
                </a:solidFill>
              </a:rPr>
              <a:t>(</a:t>
            </a:r>
            <a:r>
              <a:rPr lang="en" altLang="zh-TW" dirty="0">
                <a:solidFill>
                  <a:srgbClr val="FF0000"/>
                </a:solidFill>
              </a:rPr>
              <a:t>Late submissions will not be accepted</a:t>
            </a:r>
            <a:r>
              <a:rPr lang="en" altLang="zh-TW" dirty="0">
                <a:solidFill>
                  <a:srgbClr val="0E3F96"/>
                </a:solidFill>
              </a:rPr>
              <a:t>)</a:t>
            </a:r>
            <a:endParaRPr lang="en-US" dirty="0">
              <a:solidFill>
                <a:srgbClr val="0E3F96"/>
              </a:solidFill>
            </a:endParaRPr>
          </a:p>
          <a:p>
            <a:r>
              <a:rPr lang="en-US" dirty="0">
                <a:solidFill>
                  <a:srgbClr val="0E3F96"/>
                </a:solidFill>
              </a:rPr>
              <a:t>Makeup submission (75 % at most): After the final</a:t>
            </a:r>
          </a:p>
          <a:p>
            <a:r>
              <a:rPr lang="en-US" dirty="0">
                <a:solidFill>
                  <a:srgbClr val="0E3F96"/>
                </a:solidFill>
              </a:rPr>
              <a:t>Submission rules</a:t>
            </a:r>
          </a:p>
          <a:p>
            <a:pPr lvl="1"/>
            <a:r>
              <a:rPr lang="en-US" dirty="0"/>
              <a:t> Put all your files into a directory and name it using your student ID(s) </a:t>
            </a:r>
          </a:p>
          <a:p>
            <a:pPr lvl="2"/>
            <a:r>
              <a:rPr lang="en-US" dirty="0"/>
              <a:t>If your team has two members, please concatenate your IDs separated by “-”</a:t>
            </a:r>
          </a:p>
          <a:p>
            <a:pPr lvl="1"/>
            <a:r>
              <a:rPr lang="en-US" dirty="0"/>
              <a:t> Zip the directory and upload the zip file to E3</a:t>
            </a:r>
          </a:p>
          <a:p>
            <a:pPr lvl="1"/>
            <a:r>
              <a:rPr lang="en-US" dirty="0"/>
              <a:t> Wrong folder format or containing __MACOS</a:t>
            </a:r>
            <a:r>
              <a:rPr lang="en-US" altLang="zh-TW" dirty="0"/>
              <a:t>X</a:t>
            </a:r>
            <a:r>
              <a:rPr lang="en-US" dirty="0"/>
              <a:t> would receive 10 points deduction.</a:t>
            </a:r>
          </a:p>
          <a:p>
            <a:pPr lvl="1"/>
            <a:r>
              <a:rPr lang="en-US" dirty="0"/>
              <a:t> A sample of the zip file: </a:t>
            </a:r>
            <a:r>
              <a:rPr lang="en-US" altLang="zh-TW" dirty="0"/>
              <a:t>1234567-7654321.zip</a:t>
            </a:r>
            <a:endParaRPr lang="en-US" dirty="0"/>
          </a:p>
          <a:p>
            <a:pPr lvl="2"/>
            <a:r>
              <a:rPr lang="en-US" altLang="zh-TW" dirty="0">
                <a:latin typeface="Courier New" panose="02070309020205020404" pitchFamily="49" charset="0"/>
                <a:cs typeface="Courier New" panose="02070309020205020404" pitchFamily="49" charset="0"/>
              </a:rPr>
              <a:t>1234567-7654321</a:t>
            </a:r>
            <a:endParaRPr lang="en-US" dirty="0">
              <a:latin typeface="Courier New" panose="02070309020205020404" pitchFamily="49" charset="0"/>
              <a:cs typeface="Courier New" panose="02070309020205020404" pitchFamily="49" charset="0"/>
            </a:endParaRPr>
          </a:p>
          <a:p>
            <a:pPr marL="1085850" lvl="3" indent="0">
              <a:buNone/>
            </a:pPr>
            <a:r>
              <a:rPr lang="en-US" dirty="0">
                <a:latin typeface="Courier New" panose="02070309020205020404" pitchFamily="49" charset="0"/>
                <a:ea typeface="標楷體" panose="03000509000000000000" pitchFamily="65" charset="-120"/>
                <a:cs typeface="Courier New" panose="02070309020205020404" pitchFamily="49" charset="0"/>
              </a:rPr>
              <a:t>├</a:t>
            </a:r>
            <a:r>
              <a:rPr lang="zh-TW" altLang="en-US" dirty="0">
                <a:latin typeface="Courier New" panose="02070309020205020404" pitchFamily="49" charset="0"/>
                <a:ea typeface="標楷體" panose="03000509000000000000" pitchFamily="65" charset="-120"/>
                <a:cs typeface="Courier New" panose="02070309020205020404" pitchFamily="49" charset="0"/>
              </a:rPr>
              <a:t> </a:t>
            </a:r>
            <a:r>
              <a:rPr lang="en-US" dirty="0" err="1">
                <a:latin typeface="Courier New" panose="02070309020205020404" pitchFamily="49" charset="0"/>
                <a:cs typeface="Courier New" panose="02070309020205020404" pitchFamily="49" charset="0"/>
              </a:rPr>
              <a:t>Makefile</a:t>
            </a:r>
            <a:endParaRPr lang="en-US" dirty="0">
              <a:latin typeface="Courier New" panose="02070309020205020404" pitchFamily="49" charset="0"/>
              <a:cs typeface="Courier New" panose="02070309020205020404" pitchFamily="49" charset="0"/>
            </a:endParaRPr>
          </a:p>
          <a:p>
            <a:pPr marL="1085850" lvl="3" indent="0">
              <a:buNone/>
            </a:pPr>
            <a:r>
              <a:rPr lang="en-US" altLang="zh-TW" dirty="0">
                <a:latin typeface="Courier New" panose="02070309020205020404" pitchFamily="49" charset="0"/>
                <a:ea typeface="標楷體" panose="03000509000000000000" pitchFamily="65" charset="-120"/>
                <a:cs typeface="Courier New" panose="02070309020205020404" pitchFamily="49" charset="0"/>
              </a:rPr>
              <a:t>├</a:t>
            </a:r>
            <a:r>
              <a:rPr lang="zh-TW" altLang="en-US" dirty="0">
                <a:latin typeface="Courier New" panose="02070309020205020404" pitchFamily="49" charset="0"/>
                <a:ea typeface="標楷體" panose="03000509000000000000" pitchFamily="65" charset="-120"/>
                <a:cs typeface="Courier New" panose="02070309020205020404" pitchFamily="49" charset="0"/>
              </a:rPr>
              <a:t> </a:t>
            </a:r>
            <a:r>
              <a:rPr lang="en-US" dirty="0" err="1">
                <a:latin typeface="Courier New" panose="02070309020205020404" pitchFamily="49" charset="0"/>
                <a:cs typeface="Courier New" panose="02070309020205020404" pitchFamily="49" charset="0"/>
              </a:rPr>
              <a:t>crack_attack.c</a:t>
            </a:r>
            <a:endParaRPr lang="en-US" dirty="0">
              <a:latin typeface="Courier New" panose="02070309020205020404" pitchFamily="49" charset="0"/>
              <a:cs typeface="Courier New" panose="02070309020205020404" pitchFamily="49" charset="0"/>
            </a:endParaRPr>
          </a:p>
          <a:p>
            <a:pPr marL="1085850" lvl="3" indent="0">
              <a:buNone/>
            </a:pPr>
            <a:r>
              <a:rPr lang="en-US" altLang="zh-TW" dirty="0">
                <a:latin typeface="Courier New" panose="02070309020205020404" pitchFamily="49" charset="0"/>
                <a:ea typeface="標楷體" panose="03000509000000000000" pitchFamily="65" charset="-120"/>
                <a:cs typeface="Courier New" panose="02070309020205020404" pitchFamily="49" charset="0"/>
              </a:rPr>
              <a:t>├ </a:t>
            </a:r>
            <a:r>
              <a:rPr lang="en-US" dirty="0" err="1">
                <a:latin typeface="Courier New" panose="02070309020205020404" pitchFamily="49" charset="0"/>
                <a:cs typeface="Courier New" panose="02070309020205020404" pitchFamily="49" charset="0"/>
              </a:rPr>
              <a:t>attack_server.c</a:t>
            </a:r>
            <a:endParaRPr lang="en-US" dirty="0">
              <a:latin typeface="Courier New" panose="02070309020205020404" pitchFamily="49" charset="0"/>
              <a:cs typeface="Courier New" panose="02070309020205020404" pitchFamily="49" charset="0"/>
            </a:endParaRPr>
          </a:p>
          <a:p>
            <a:pPr marL="1085850" lvl="3" indent="0">
              <a:buNone/>
            </a:pPr>
            <a:r>
              <a:rPr lang="en-US" altLang="zh-TW" dirty="0">
                <a:latin typeface="Courier New" panose="02070309020205020404" pitchFamily="49" charset="0"/>
                <a:ea typeface="標楷體" panose="03000509000000000000" pitchFamily="65" charset="-120"/>
                <a:cs typeface="Courier New" panose="02070309020205020404" pitchFamily="49" charset="0"/>
              </a:rPr>
              <a:t>└ {other files you have}	</a:t>
            </a:r>
          </a:p>
          <a:p>
            <a:pPr marL="1085850" lvl="3" indent="0">
              <a:buNone/>
            </a:pPr>
            <a:r>
              <a:rPr lang="en-US" dirty="0">
                <a:latin typeface="Courier New" panose="02070309020205020404" pitchFamily="49" charset="0"/>
                <a:ea typeface="標楷體" panose="03000509000000000000" pitchFamily="65" charset="-120"/>
                <a:cs typeface="Courier New" panose="02070309020205020404" pitchFamily="49" charset="0"/>
              </a:rPr>
              <a:t>	</a:t>
            </a:r>
          </a:p>
        </p:txBody>
      </p:sp>
      <p:sp>
        <p:nvSpPr>
          <p:cNvPr id="3" name="Slide Number Placeholder 2"/>
          <p:cNvSpPr>
            <a:spLocks noGrp="1"/>
          </p:cNvSpPr>
          <p:nvPr>
            <p:ph type="sldNum" sz="quarter" idx="10"/>
          </p:nvPr>
        </p:nvSpPr>
        <p:spPr/>
        <p:txBody>
          <a:bodyPr/>
          <a:lstStyle/>
          <a:p>
            <a:fld id="{8D3C0205-A4ED-49FA-A528-855184B0DC67}" type="slidenum">
              <a:rPr lang="en-US" altLang="en-US" smtClean="0"/>
              <a:pPr/>
              <a:t>16</a:t>
            </a:fld>
            <a:endParaRPr lang="en-US" altLang="en-US" dirty="0"/>
          </a:p>
        </p:txBody>
      </p:sp>
      <p:sp>
        <p:nvSpPr>
          <p:cNvPr id="4" name="Title 3"/>
          <p:cNvSpPr>
            <a:spLocks noGrp="1"/>
          </p:cNvSpPr>
          <p:nvPr>
            <p:ph type="title"/>
          </p:nvPr>
        </p:nvSpPr>
        <p:spPr/>
        <p:txBody>
          <a:bodyPr/>
          <a:lstStyle/>
          <a:p>
            <a:r>
              <a:rPr lang="en-US" dirty="0"/>
              <a:t>Project Submission</a:t>
            </a:r>
          </a:p>
        </p:txBody>
      </p:sp>
    </p:spTree>
    <p:custDataLst>
      <p:tags r:id="rId1"/>
    </p:custDataLst>
    <p:extLst>
      <p:ext uri="{BB962C8B-B14F-4D97-AF65-F5344CB8AC3E}">
        <p14:creationId xmlns:p14="http://schemas.microsoft.com/office/powerpoint/2010/main" val="2213268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D0EB-798F-7F47-6A4F-4EE1B611C1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357CC7-AB05-C08A-24BF-6BEBEBDF3CC0}"/>
              </a:ext>
            </a:extLst>
          </p:cNvPr>
          <p:cNvSpPr>
            <a:spLocks noGrp="1"/>
          </p:cNvSpPr>
          <p:nvPr>
            <p:ph type="sldNum" sz="quarter" idx="10"/>
          </p:nvPr>
        </p:nvSpPr>
        <p:spPr/>
        <p:txBody>
          <a:bodyPr/>
          <a:lstStyle/>
          <a:p>
            <a:fld id="{8D3C0205-A4ED-49FA-A528-855184B0DC67}" type="slidenum">
              <a:rPr lang="en-US" altLang="en-US" smtClean="0"/>
              <a:pPr/>
              <a:t>17</a:t>
            </a:fld>
            <a:endParaRPr lang="en-US" altLang="en-US" dirty="0"/>
          </a:p>
        </p:txBody>
      </p:sp>
      <p:sp>
        <p:nvSpPr>
          <p:cNvPr id="4" name="Title 3">
            <a:extLst>
              <a:ext uri="{FF2B5EF4-FFF2-40B4-BE49-F238E27FC236}">
                <a16:creationId xmlns:a16="http://schemas.microsoft.com/office/drawing/2014/main" id="{47C14C01-8351-BA3D-7CAB-5157824AD7A9}"/>
              </a:ext>
            </a:extLst>
          </p:cNvPr>
          <p:cNvSpPr>
            <a:spLocks noGrp="1"/>
          </p:cNvSpPr>
          <p:nvPr>
            <p:ph type="title"/>
          </p:nvPr>
        </p:nvSpPr>
        <p:spPr/>
        <p:txBody>
          <a:bodyPr/>
          <a:lstStyle/>
          <a:p>
            <a:r>
              <a:rPr lang="en-US" dirty="0"/>
              <a:t>Appendix: Quantum-Safe Cryptos (QSC)</a:t>
            </a:r>
          </a:p>
        </p:txBody>
      </p:sp>
      <p:sp>
        <p:nvSpPr>
          <p:cNvPr id="59" name="Content Placeholder 1">
            <a:extLst>
              <a:ext uri="{FF2B5EF4-FFF2-40B4-BE49-F238E27FC236}">
                <a16:creationId xmlns:a16="http://schemas.microsoft.com/office/drawing/2014/main" id="{180B4E36-CBF3-3810-E402-0F9EA96058BB}"/>
              </a:ext>
            </a:extLst>
          </p:cNvPr>
          <p:cNvSpPr>
            <a:spLocks noGrp="1"/>
          </p:cNvSpPr>
          <p:nvPr>
            <p:ph idx="1"/>
          </p:nvPr>
        </p:nvSpPr>
        <p:spPr>
          <a:xfrm>
            <a:off x="912291" y="1649506"/>
            <a:ext cx="10725527" cy="4306794"/>
          </a:xfrm>
        </p:spPr>
        <p:txBody>
          <a:bodyPr/>
          <a:lstStyle/>
          <a:p>
            <a:pPr>
              <a:lnSpc>
                <a:spcPct val="200000"/>
              </a:lnSpc>
            </a:pPr>
            <a:r>
              <a:rPr lang="en-US" sz="2400" dirty="0">
                <a:solidFill>
                  <a:srgbClr val="0E3F96"/>
                </a:solidFill>
              </a:rPr>
              <a:t>Conventional cryptographic algorithm bases on some mathematic problems that is difficult to be cracked via modern computers</a:t>
            </a:r>
          </a:p>
          <a:p>
            <a:pPr>
              <a:lnSpc>
                <a:spcPct val="200000"/>
              </a:lnSpc>
            </a:pPr>
            <a:r>
              <a:rPr lang="en-US" sz="2400" dirty="0">
                <a:solidFill>
                  <a:srgbClr val="0E3F96"/>
                </a:solidFill>
              </a:rPr>
              <a:t>Quantum computers can use Shor’s algorithm to solve these kinds of problems efficiently, thus threatens several crypto algorithms (e.g., RSA, ECDSA, ECDHE, …)</a:t>
            </a:r>
          </a:p>
          <a:p>
            <a:pPr>
              <a:lnSpc>
                <a:spcPct val="200000"/>
              </a:lnSpc>
            </a:pPr>
            <a:r>
              <a:rPr lang="en-US" sz="2400" dirty="0">
                <a:solidFill>
                  <a:srgbClr val="0E3F96"/>
                </a:solidFill>
              </a:rPr>
              <a:t>New algorithms that can resist this kind of threats are called quantum-safe cryptos</a:t>
            </a:r>
          </a:p>
        </p:txBody>
      </p:sp>
    </p:spTree>
    <p:extLst>
      <p:ext uri="{BB962C8B-B14F-4D97-AF65-F5344CB8AC3E}">
        <p14:creationId xmlns:p14="http://schemas.microsoft.com/office/powerpoint/2010/main" val="2709161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378C-0CDB-4B4D-7624-9F865984055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067188-0FDB-FBE6-8F33-54DD70B8BBB4}"/>
              </a:ext>
            </a:extLst>
          </p:cNvPr>
          <p:cNvSpPr>
            <a:spLocks noGrp="1"/>
          </p:cNvSpPr>
          <p:nvPr>
            <p:ph type="sldNum" sz="quarter" idx="10"/>
          </p:nvPr>
        </p:nvSpPr>
        <p:spPr/>
        <p:txBody>
          <a:bodyPr/>
          <a:lstStyle/>
          <a:p>
            <a:fld id="{8D3C0205-A4ED-49FA-A528-855184B0DC67}" type="slidenum">
              <a:rPr lang="en-US" altLang="en-US" smtClean="0"/>
              <a:pPr/>
              <a:t>18</a:t>
            </a:fld>
            <a:endParaRPr lang="en-US" altLang="en-US" dirty="0"/>
          </a:p>
        </p:txBody>
      </p:sp>
      <p:sp>
        <p:nvSpPr>
          <p:cNvPr id="4" name="Title 3">
            <a:extLst>
              <a:ext uri="{FF2B5EF4-FFF2-40B4-BE49-F238E27FC236}">
                <a16:creationId xmlns:a16="http://schemas.microsoft.com/office/drawing/2014/main" id="{7009FA8B-D7DC-78EB-82A4-F8834FE2C15B}"/>
              </a:ext>
            </a:extLst>
          </p:cNvPr>
          <p:cNvSpPr>
            <a:spLocks noGrp="1"/>
          </p:cNvSpPr>
          <p:nvPr>
            <p:ph type="title"/>
          </p:nvPr>
        </p:nvSpPr>
        <p:spPr/>
        <p:txBody>
          <a:bodyPr/>
          <a:lstStyle/>
          <a:p>
            <a:r>
              <a:rPr lang="en-US" dirty="0"/>
              <a:t>Appendix: QSC in Practice</a:t>
            </a:r>
          </a:p>
        </p:txBody>
      </p:sp>
      <p:sp>
        <p:nvSpPr>
          <p:cNvPr id="59" name="Content Placeholder 1">
            <a:extLst>
              <a:ext uri="{FF2B5EF4-FFF2-40B4-BE49-F238E27FC236}">
                <a16:creationId xmlns:a16="http://schemas.microsoft.com/office/drawing/2014/main" id="{FB24FBD0-3FAF-E26C-C9AD-59C65B00449D}"/>
              </a:ext>
            </a:extLst>
          </p:cNvPr>
          <p:cNvSpPr>
            <a:spLocks noGrp="1"/>
          </p:cNvSpPr>
          <p:nvPr>
            <p:ph idx="1"/>
          </p:nvPr>
        </p:nvSpPr>
        <p:spPr>
          <a:xfrm>
            <a:off x="912291" y="1305125"/>
            <a:ext cx="10547397" cy="4306794"/>
          </a:xfrm>
        </p:spPr>
        <p:txBody>
          <a:bodyPr/>
          <a:lstStyle/>
          <a:p>
            <a:pPr>
              <a:lnSpc>
                <a:spcPct val="150000"/>
              </a:lnSpc>
            </a:pPr>
            <a:r>
              <a:rPr lang="en-US" sz="2400" dirty="0">
                <a:solidFill>
                  <a:srgbClr val="0E3F96"/>
                </a:solidFill>
              </a:rPr>
              <a:t>OpenSSL introduces provider mechanism to embrace algorithms from third-parties</a:t>
            </a:r>
          </a:p>
          <a:p>
            <a:pPr>
              <a:lnSpc>
                <a:spcPct val="150000"/>
              </a:lnSpc>
            </a:pPr>
            <a:r>
              <a:rPr lang="en-US" sz="2400" dirty="0">
                <a:solidFill>
                  <a:srgbClr val="0E3F96"/>
                </a:solidFill>
              </a:rPr>
              <a:t>Open Quantum Safe Project implements algorithms and adapt them with the provider interface into OpenSSL framework</a:t>
            </a:r>
          </a:p>
          <a:p>
            <a:pPr>
              <a:lnSpc>
                <a:spcPct val="150000"/>
              </a:lnSpc>
            </a:pPr>
            <a:r>
              <a:rPr lang="en-US" sz="2400" dirty="0">
                <a:solidFill>
                  <a:srgbClr val="0E3F96"/>
                </a:solidFill>
              </a:rPr>
              <a:t>Check </a:t>
            </a:r>
            <a:r>
              <a:rPr lang="en-US" sz="2400" dirty="0">
                <a:solidFill>
                  <a:srgbClr val="0E3F96"/>
                </a:solidFill>
                <a:hlinkClick r:id="rId3"/>
              </a:rPr>
              <a:t>oqs-provider / USAGE.md</a:t>
            </a:r>
            <a:r>
              <a:rPr lang="en-US" sz="2400" dirty="0">
                <a:solidFill>
                  <a:srgbClr val="0E3F96"/>
                </a:solidFill>
              </a:rPr>
              <a:t> to know its usage</a:t>
            </a:r>
          </a:p>
          <a:p>
            <a:pPr>
              <a:lnSpc>
                <a:spcPct val="150000"/>
              </a:lnSpc>
            </a:pPr>
            <a:r>
              <a:rPr lang="en-US" sz="2400" dirty="0">
                <a:solidFill>
                  <a:srgbClr val="0E3F96"/>
                </a:solidFill>
              </a:rPr>
              <a:t>You can check the availability of QSC in your container with the command:</a:t>
            </a:r>
          </a:p>
          <a:p>
            <a:pPr>
              <a:lnSpc>
                <a:spcPct val="150000"/>
              </a:lnSpc>
            </a:pPr>
            <a:endParaRPr lang="en-US" sz="2400" dirty="0">
              <a:solidFill>
                <a:srgbClr val="0E3F96"/>
              </a:solidFill>
            </a:endParaRPr>
          </a:p>
          <a:p>
            <a:pPr>
              <a:lnSpc>
                <a:spcPct val="150000"/>
              </a:lnSpc>
            </a:pPr>
            <a:endParaRPr lang="en-US" sz="2400" dirty="0">
              <a:solidFill>
                <a:srgbClr val="0E3F96"/>
              </a:solidFill>
            </a:endParaRPr>
          </a:p>
          <a:p>
            <a:pPr>
              <a:lnSpc>
                <a:spcPct val="150000"/>
              </a:lnSpc>
            </a:pPr>
            <a:endParaRPr lang="en-US" sz="2000" dirty="0"/>
          </a:p>
        </p:txBody>
      </p:sp>
      <p:sp>
        <p:nvSpPr>
          <p:cNvPr id="2" name="文字方塊 6">
            <a:extLst>
              <a:ext uri="{FF2B5EF4-FFF2-40B4-BE49-F238E27FC236}">
                <a16:creationId xmlns:a16="http://schemas.microsoft.com/office/drawing/2014/main" id="{50F95B56-F25B-F6DF-0DC4-8FC20270D63B}"/>
              </a:ext>
            </a:extLst>
          </p:cNvPr>
          <p:cNvSpPr txBox="1"/>
          <p:nvPr/>
        </p:nvSpPr>
        <p:spPr>
          <a:xfrm>
            <a:off x="1442413" y="4583495"/>
            <a:ext cx="5027543" cy="1631216"/>
          </a:xfrm>
          <a:prstGeom prst="rect">
            <a:avLst/>
          </a:prstGeom>
          <a:noFill/>
          <a:ln>
            <a:solidFill>
              <a:schemeClr val="tx1"/>
            </a:solidFill>
          </a:ln>
        </p:spPr>
        <p:txBody>
          <a:bodyPr wrap="square" rtlCol="0">
            <a:spAutoFit/>
          </a:bodyPr>
          <a:lstStyle/>
          <a:p>
            <a:pPr algn="l"/>
            <a:r>
              <a:rPr lang="en-US" altLang="zh-TW" sz="2000" dirty="0">
                <a:latin typeface="Consolas" panose="020B0609020204030204" pitchFamily="49" charset="0"/>
              </a:rPr>
              <a:t>$ </a:t>
            </a:r>
            <a:r>
              <a:rPr lang="en-US" altLang="zh-TW" sz="2000" dirty="0" err="1">
                <a:latin typeface="Consolas" panose="020B0609020204030204" pitchFamily="49" charset="0"/>
              </a:rPr>
              <a:t>openssl</a:t>
            </a:r>
            <a:r>
              <a:rPr lang="en-US" altLang="zh-TW" sz="2000" dirty="0">
                <a:latin typeface="Consolas" panose="020B0609020204030204" pitchFamily="49" charset="0"/>
              </a:rPr>
              <a:t> list –providers</a:t>
            </a:r>
          </a:p>
          <a:p>
            <a:pPr algn="l"/>
            <a:r>
              <a:rPr lang="en-US" altLang="zh-TW" sz="2000" dirty="0">
                <a:latin typeface="Consolas" panose="020B0609020204030204" pitchFamily="49" charset="0"/>
              </a:rPr>
              <a:t>Providers:</a:t>
            </a:r>
          </a:p>
          <a:p>
            <a:pPr algn="l"/>
            <a:r>
              <a:rPr lang="en-US" altLang="zh-TW" sz="2000" dirty="0" err="1">
                <a:latin typeface="Consolas" panose="020B0609020204030204" pitchFamily="49" charset="0"/>
              </a:rPr>
              <a:t>oqsprovider</a:t>
            </a:r>
            <a:endParaRPr lang="en-US" altLang="zh-TW" sz="2000" dirty="0">
              <a:latin typeface="Consolas" panose="020B0609020204030204" pitchFamily="49" charset="0"/>
            </a:endParaRPr>
          </a:p>
          <a:p>
            <a:pPr algn="l"/>
            <a:r>
              <a:rPr lang="en-US" altLang="zh-TW" sz="2000" dirty="0">
                <a:latin typeface="Consolas" panose="020B0609020204030204" pitchFamily="49" charset="0"/>
              </a:rPr>
              <a:t>    name: OpenSSL OQS Provider</a:t>
            </a:r>
          </a:p>
          <a:p>
            <a:pPr algn="l"/>
            <a:r>
              <a:rPr lang="en-US" altLang="zh-TW" sz="2000" dirty="0">
                <a:latin typeface="Consolas" panose="020B0609020204030204" pitchFamily="49" charset="0"/>
              </a:rPr>
              <a:t>    status: active</a:t>
            </a:r>
          </a:p>
        </p:txBody>
      </p:sp>
    </p:spTree>
    <p:extLst>
      <p:ext uri="{BB962C8B-B14F-4D97-AF65-F5344CB8AC3E}">
        <p14:creationId xmlns:p14="http://schemas.microsoft.com/office/powerpoint/2010/main" val="176959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4800D-89E3-1A40-E292-BA615CBFF6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40B9EF-F3F6-2FC2-02AD-314C23CE2917}"/>
              </a:ext>
            </a:extLst>
          </p:cNvPr>
          <p:cNvSpPr>
            <a:spLocks noGrp="1"/>
          </p:cNvSpPr>
          <p:nvPr>
            <p:ph type="sldNum" sz="quarter" idx="10"/>
          </p:nvPr>
        </p:nvSpPr>
        <p:spPr/>
        <p:txBody>
          <a:bodyPr/>
          <a:lstStyle/>
          <a:p>
            <a:fld id="{8D3C0205-A4ED-49FA-A528-855184B0DC67}" type="slidenum">
              <a:rPr lang="en-US" altLang="en-US" smtClean="0"/>
              <a:pPr/>
              <a:t>19</a:t>
            </a:fld>
            <a:endParaRPr lang="en-US" altLang="en-US" dirty="0"/>
          </a:p>
        </p:txBody>
      </p:sp>
      <p:sp>
        <p:nvSpPr>
          <p:cNvPr id="4" name="Title 3">
            <a:extLst>
              <a:ext uri="{FF2B5EF4-FFF2-40B4-BE49-F238E27FC236}">
                <a16:creationId xmlns:a16="http://schemas.microsoft.com/office/drawing/2014/main" id="{8ED53B7D-3E48-1DED-1238-F2FE687B84D0}"/>
              </a:ext>
            </a:extLst>
          </p:cNvPr>
          <p:cNvSpPr>
            <a:spLocks noGrp="1"/>
          </p:cNvSpPr>
          <p:nvPr>
            <p:ph type="title"/>
          </p:nvPr>
        </p:nvSpPr>
        <p:spPr/>
        <p:txBody>
          <a:bodyPr/>
          <a:lstStyle/>
          <a:p>
            <a:r>
              <a:rPr lang="en-US" dirty="0"/>
              <a:t>Appendix: The Process of PQC KEM (Kyber-512)</a:t>
            </a:r>
          </a:p>
        </p:txBody>
      </p:sp>
      <p:sp>
        <p:nvSpPr>
          <p:cNvPr id="59" name="Content Placeholder 1">
            <a:extLst>
              <a:ext uri="{FF2B5EF4-FFF2-40B4-BE49-F238E27FC236}">
                <a16:creationId xmlns:a16="http://schemas.microsoft.com/office/drawing/2014/main" id="{C00C7C34-9E65-E0C8-6E95-AC993BFACFAC}"/>
              </a:ext>
            </a:extLst>
          </p:cNvPr>
          <p:cNvSpPr>
            <a:spLocks noGrp="1"/>
          </p:cNvSpPr>
          <p:nvPr>
            <p:ph idx="1"/>
          </p:nvPr>
        </p:nvSpPr>
        <p:spPr>
          <a:xfrm>
            <a:off x="912291" y="1457593"/>
            <a:ext cx="10547397" cy="4496893"/>
          </a:xfrm>
        </p:spPr>
        <p:txBody>
          <a:bodyPr/>
          <a:lstStyle/>
          <a:p>
            <a:pPr marL="457200" indent="-457200">
              <a:lnSpc>
                <a:spcPct val="150000"/>
              </a:lnSpc>
              <a:buFont typeface="+mj-lt"/>
              <a:buAutoNum type="arabicPeriod"/>
            </a:pPr>
            <a:r>
              <a:rPr lang="en-US" sz="2400" dirty="0">
                <a:solidFill>
                  <a:srgbClr val="0E3F96"/>
                </a:solidFill>
              </a:rPr>
              <a:t>Key generation (server side): </a:t>
            </a:r>
            <a:endParaRPr lang="en-US" dirty="0">
              <a:solidFill>
                <a:srgbClr val="0E3F96"/>
              </a:solidFill>
            </a:endParaRPr>
          </a:p>
          <a:p>
            <a:pPr lvl="1">
              <a:lnSpc>
                <a:spcPct val="150000"/>
              </a:lnSpc>
              <a:buClr>
                <a:schemeClr val="tx1"/>
              </a:buClr>
              <a:buSzPct val="66000"/>
            </a:pPr>
            <a:r>
              <a:rPr lang="en-US" sz="2000" dirty="0">
                <a:solidFill>
                  <a:srgbClr val="0E3F96"/>
                </a:solidFill>
              </a:rPr>
              <a:t> </a:t>
            </a:r>
            <a:r>
              <a:rPr lang="en-US" sz="1600" dirty="0"/>
              <a:t>The server generates a public/private key pair using the Kyber-512 parameters (based on lattice cryptography, specifically the Module-LWE problem). It sends the public key to the client while keeping the private key secret.</a:t>
            </a:r>
          </a:p>
          <a:p>
            <a:pPr marL="457200" indent="-457200">
              <a:lnSpc>
                <a:spcPct val="150000"/>
              </a:lnSpc>
              <a:buFont typeface="+mj-lt"/>
              <a:buAutoNum type="arabicPeriod"/>
            </a:pPr>
            <a:r>
              <a:rPr lang="en-US" sz="2400" dirty="0">
                <a:solidFill>
                  <a:srgbClr val="0E3F96"/>
                </a:solidFill>
              </a:rPr>
              <a:t>Encapsulation (client side): </a:t>
            </a:r>
          </a:p>
          <a:p>
            <a:pPr lvl="1">
              <a:lnSpc>
                <a:spcPct val="150000"/>
              </a:lnSpc>
            </a:pPr>
            <a:r>
              <a:rPr lang="en-US" sz="1600" dirty="0"/>
              <a:t> The client uses the server’s public key to create a shared secret and a corresponding ciphertext. It sends this ciphertext to the server; the shared secret is kept locally by the client.</a:t>
            </a:r>
          </a:p>
          <a:p>
            <a:pPr marL="457200" indent="-457200">
              <a:lnSpc>
                <a:spcPct val="150000"/>
              </a:lnSpc>
              <a:buFont typeface="+mj-lt"/>
              <a:buAutoNum type="arabicPeriod"/>
            </a:pPr>
            <a:r>
              <a:rPr lang="en-US" sz="2400" dirty="0">
                <a:solidFill>
                  <a:srgbClr val="0E3F96"/>
                </a:solidFill>
              </a:rPr>
              <a:t>Decapsulation (server side): </a:t>
            </a:r>
          </a:p>
          <a:p>
            <a:pPr lvl="1">
              <a:lnSpc>
                <a:spcPct val="150000"/>
              </a:lnSpc>
            </a:pPr>
            <a:r>
              <a:rPr lang="en-US" sz="1600" dirty="0"/>
              <a:t> The server uses its private key to decrypt (decapsulate) the ciphertext and recover the same shared secret. Now both client and server independently hold the identical secret, which can be used for symmetric encryption (e.g., secure communication).</a:t>
            </a:r>
          </a:p>
        </p:txBody>
      </p:sp>
    </p:spTree>
    <p:extLst>
      <p:ext uri="{BB962C8B-B14F-4D97-AF65-F5344CB8AC3E}">
        <p14:creationId xmlns:p14="http://schemas.microsoft.com/office/powerpoint/2010/main" val="1960913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lgn="l" eaLnBrk="0" hangingPunct="0">
              <a:lnSpc>
                <a:spcPts val="2800"/>
              </a:lnSpc>
              <a:spcAft>
                <a:spcPct val="30000"/>
              </a:spcAft>
              <a:buChar char="•"/>
              <a:defRPr sz="2400">
                <a:solidFill>
                  <a:schemeClr val="accent1"/>
                </a:solidFill>
                <a:latin typeface="Arial" panose="020B0604020202020204" pitchFamily="34" charset="0"/>
                <a:ea typeface="ＭＳ Ｐゴシック" pitchFamily="-84" charset="-128"/>
              </a:defRPr>
            </a:lvl1pPr>
            <a:lvl2pPr marL="742950" indent="-285750" algn="l" eaLnBrk="0" hangingPunct="0">
              <a:lnSpc>
                <a:spcPts val="2200"/>
              </a:lnSpc>
              <a:spcBef>
                <a:spcPct val="10000"/>
              </a:spcBef>
              <a:spcAft>
                <a:spcPct val="30000"/>
              </a:spcAft>
              <a:buSzPct val="80000"/>
              <a:buChar char="•"/>
              <a:defRPr sz="2000">
                <a:solidFill>
                  <a:schemeClr val="tx1"/>
                </a:solidFill>
                <a:latin typeface="Arial" panose="020B0604020202020204" pitchFamily="34" charset="0"/>
                <a:ea typeface="ＭＳ Ｐゴシック" pitchFamily="-84" charset="-128"/>
              </a:defRPr>
            </a:lvl2pPr>
            <a:lvl3pPr marL="1143000" indent="-228600" algn="l" eaLnBrk="0" hangingPunct="0">
              <a:lnSpc>
                <a:spcPts val="2000"/>
              </a:lnSpc>
              <a:spcBef>
                <a:spcPct val="10000"/>
              </a:spcBef>
              <a:spcAft>
                <a:spcPct val="30000"/>
              </a:spcAft>
              <a:buSzPct val="80000"/>
              <a:buChar char="•"/>
              <a:defRPr>
                <a:solidFill>
                  <a:schemeClr val="accent2"/>
                </a:solidFill>
                <a:latin typeface="Arial" panose="020B0604020202020204" pitchFamily="34" charset="0"/>
                <a:ea typeface="ＭＳ Ｐゴシック" pitchFamily="-84" charset="-128"/>
              </a:defRPr>
            </a:lvl3pPr>
            <a:lvl4pPr marL="1600200" indent="-228600" algn="l" eaLnBrk="0" hangingPunct="0">
              <a:lnSpc>
                <a:spcPts val="1800"/>
              </a:lnSpc>
              <a:spcBef>
                <a:spcPct val="10000"/>
              </a:spcBef>
              <a:spcAft>
                <a:spcPct val="30000"/>
              </a:spcAft>
              <a:buSzPct val="80000"/>
              <a:buChar char="•"/>
              <a:defRPr sz="1600">
                <a:solidFill>
                  <a:schemeClr val="accent2"/>
                </a:solidFill>
                <a:latin typeface="Arial" panose="020B0604020202020204" pitchFamily="34" charset="0"/>
                <a:ea typeface="ＭＳ Ｐゴシック" pitchFamily="-84" charset="-128"/>
              </a:defRPr>
            </a:lvl4pPr>
            <a:lvl5pPr marL="2057400" indent="-228600" algn="l" eaLnBrk="0"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ＭＳ Ｐゴシック" pitchFamily="-84" charset="-128"/>
              </a:defRPr>
            </a:lvl5pPr>
            <a:lvl6pPr marL="2514600" indent="-22860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ＭＳ Ｐゴシック" pitchFamily="-84" charset="-128"/>
              </a:defRPr>
            </a:lvl6pPr>
            <a:lvl7pPr marL="2971800" indent="-22860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ＭＳ Ｐゴシック" pitchFamily="-84" charset="-128"/>
              </a:defRPr>
            </a:lvl7pPr>
            <a:lvl8pPr marL="3429000" indent="-22860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ＭＳ Ｐゴシック" pitchFamily="-84" charset="-128"/>
              </a:defRPr>
            </a:lvl8pPr>
            <a:lvl9pPr marL="3886200" indent="-228600" eaLnBrk="0" fontAlgn="base" hangingPunct="0">
              <a:lnSpc>
                <a:spcPts val="1600"/>
              </a:lnSpc>
              <a:spcBef>
                <a:spcPct val="10000"/>
              </a:spcBef>
              <a:spcAft>
                <a:spcPct val="30000"/>
              </a:spcAft>
              <a:buSzPct val="80000"/>
              <a:buChar char="•"/>
              <a:defRPr sz="1400">
                <a:solidFill>
                  <a:schemeClr val="accent2"/>
                </a:solidFill>
                <a:latin typeface="Arial" panose="020B0604020202020204" pitchFamily="34" charset="0"/>
                <a:ea typeface="ＭＳ Ｐゴシック" pitchFamily="-84" charset="-128"/>
              </a:defRPr>
            </a:lvl9pPr>
          </a:lstStyle>
          <a:p>
            <a:pPr algn="r" eaLnBrk="1" hangingPunct="1">
              <a:lnSpc>
                <a:spcPct val="100000"/>
              </a:lnSpc>
              <a:spcAft>
                <a:spcPct val="0"/>
              </a:spcAft>
              <a:buFontTx/>
              <a:buNone/>
            </a:pPr>
            <a:fld id="{94D5A58C-03EA-418A-A005-67E0254AF8E0}" type="slidenum">
              <a:rPr lang="en-US" altLang="en-US" sz="1000">
                <a:solidFill>
                  <a:schemeClr val="tx1"/>
                </a:solidFill>
              </a:rPr>
              <a:pPr algn="r" eaLnBrk="1" hangingPunct="1">
                <a:lnSpc>
                  <a:spcPct val="100000"/>
                </a:lnSpc>
                <a:spcAft>
                  <a:spcPct val="0"/>
                </a:spcAft>
                <a:buFontTx/>
                <a:buNone/>
              </a:pPr>
              <a:t>20</a:t>
            </a:fld>
            <a:endParaRPr lang="en-US" altLang="en-US" sz="1000">
              <a:solidFill>
                <a:schemeClr val="tx1"/>
              </a:solidFill>
            </a:endParaRPr>
          </a:p>
        </p:txBody>
      </p:sp>
      <p:sp>
        <p:nvSpPr>
          <p:cNvPr id="3" name="Title 2"/>
          <p:cNvSpPr>
            <a:spLocks noGrp="1"/>
          </p:cNvSpPr>
          <p:nvPr>
            <p:ph type="ctrTitle" sz="quarter"/>
          </p:nvPr>
        </p:nvSpPr>
        <p:spPr/>
        <p:txBody>
          <a:bodyPr/>
          <a:lstStyle/>
          <a:p>
            <a:pPr algn="ctr"/>
            <a:r>
              <a:rPr lang="en-US" dirty="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6.8|29.5"/>
</p:tagLst>
</file>

<file path=ppt/tags/tag2.xml><?xml version="1.0" encoding="utf-8"?>
<p:tagLst xmlns:a="http://schemas.openxmlformats.org/drawingml/2006/main" xmlns:r="http://schemas.openxmlformats.org/officeDocument/2006/relationships" xmlns:p="http://schemas.openxmlformats.org/presentationml/2006/main">
  <p:tag name="TIMING" val="|18.9|0.6|0.6|0.3|0.2|0.3"/>
</p:tagLst>
</file>

<file path=ppt/theme/theme1.xml><?xml version="1.0" encoding="utf-8"?>
<a:theme xmlns:a="http://schemas.openxmlformats.org/drawingml/2006/main" name="Default">
  <a:themeElements>
    <a:clrScheme name="Custom 1">
      <a:dk1>
        <a:srgbClr val="000000"/>
      </a:dk1>
      <a:lt1>
        <a:srgbClr val="FFFFFF"/>
      </a:lt1>
      <a:dk2>
        <a:srgbClr val="000000"/>
      </a:dk2>
      <a:lt2>
        <a:srgbClr val="8B8D8E"/>
      </a:lt2>
      <a:accent1>
        <a:srgbClr val="536895"/>
      </a:accent1>
      <a:accent2>
        <a:srgbClr val="616365"/>
      </a:accent2>
      <a:accent3>
        <a:srgbClr val="FFFFFF"/>
      </a:accent3>
      <a:accent4>
        <a:srgbClr val="000000"/>
      </a:accent4>
      <a:accent5>
        <a:srgbClr val="B3B9C8"/>
      </a:accent5>
      <a:accent6>
        <a:srgbClr val="57595B"/>
      </a:accent6>
      <a:hlink>
        <a:srgbClr val="0070C0"/>
      </a:hlink>
      <a:folHlink>
        <a:srgbClr val="FFB612"/>
      </a:folHlink>
    </a:clrScheme>
    <a:fontScheme name="Defaul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defRPr>
        </a:defPPr>
      </a:lstStyle>
    </a:lnDef>
  </a:objectDefaults>
  <a:extraClrSchemeLst>
    <a:extraClrScheme>
      <a:clrScheme name="Default 1">
        <a:dk1>
          <a:srgbClr val="000000"/>
        </a:dk1>
        <a:lt1>
          <a:srgbClr val="FFFFFF"/>
        </a:lt1>
        <a:dk2>
          <a:srgbClr val="000000"/>
        </a:dk2>
        <a:lt2>
          <a:srgbClr val="8B8D8E"/>
        </a:lt2>
        <a:accent1>
          <a:srgbClr val="536895"/>
        </a:accent1>
        <a:accent2>
          <a:srgbClr val="616365"/>
        </a:accent2>
        <a:accent3>
          <a:srgbClr val="FFFFFF"/>
        </a:accent3>
        <a:accent4>
          <a:srgbClr val="000000"/>
        </a:accent4>
        <a:accent5>
          <a:srgbClr val="B3B9C8"/>
        </a:accent5>
        <a:accent6>
          <a:srgbClr val="57595B"/>
        </a:accent6>
        <a:hlink>
          <a:srgbClr val="F1E3BB"/>
        </a:hlink>
        <a:folHlink>
          <a:srgbClr val="FFB61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48112</TotalTime>
  <Words>1753</Words>
  <Application>Microsoft Office PowerPoint</Application>
  <PresentationFormat>寬螢幕</PresentationFormat>
  <Paragraphs>244</Paragraphs>
  <Slides>20</Slides>
  <Notes>20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20</vt:i4>
      </vt:variant>
    </vt:vector>
  </HeadingPairs>
  <TitlesOfParts>
    <vt:vector size="29" baseType="lpstr">
      <vt:lpstr>Helvetica Neue</vt:lpstr>
      <vt:lpstr>Arial</vt:lpstr>
      <vt:lpstr>Calibri</vt:lpstr>
      <vt:lpstr>Consolas</vt:lpstr>
      <vt:lpstr>Courier New</vt:lpstr>
      <vt:lpstr>Times</vt:lpstr>
      <vt:lpstr>Trebuchet MS</vt:lpstr>
      <vt:lpstr>Wingdings</vt:lpstr>
      <vt:lpstr>Default</vt:lpstr>
      <vt:lpstr>Computer Security Capstone  Project III: Ransomware Propagation and Payload</vt:lpstr>
      <vt:lpstr>Goals</vt:lpstr>
      <vt:lpstr>Attack Scenario</vt:lpstr>
      <vt:lpstr>Grading </vt:lpstr>
      <vt:lpstr>Task I: Crack SSH password</vt:lpstr>
      <vt:lpstr>Task II: Compression Virus with Ransomware Propagation </vt:lpstr>
      <vt:lpstr>Task II: Compression Virus with Ransomware Propagation </vt:lpstr>
      <vt:lpstr>Task III: Ransomware Payload &amp; PQC KEM </vt:lpstr>
      <vt:lpstr>Task III: Ransomware Payload &amp; PQC KEM </vt:lpstr>
      <vt:lpstr>Task III: Ransomware Payload &amp; PQC KEM </vt:lpstr>
      <vt:lpstr>Task III: Ransomware Payload &amp; PQC KEM </vt:lpstr>
      <vt:lpstr>Requirements</vt:lpstr>
      <vt:lpstr>Important: How to set up environment?</vt:lpstr>
      <vt:lpstr>Important: How to Prepare Your Attack Programs?</vt:lpstr>
      <vt:lpstr>Important: Major Demo Steps (Not Exactly the Same)</vt:lpstr>
      <vt:lpstr>Project Submission</vt:lpstr>
      <vt:lpstr>Appendix: Quantum-Safe Cryptos (QSC)</vt:lpstr>
      <vt:lpstr>Appendix: QSC in Practice</vt:lpstr>
      <vt:lpstr>Appendix: The Process of PQC KEM (Kyber-512)</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Guan-Hua Tu</dc:creator>
  <cp:lastModifiedBy>鄭栩安</cp:lastModifiedBy>
  <cp:revision>753</cp:revision>
  <dcterms:created xsi:type="dcterms:W3CDTF">2009-05-04T15:50:16Z</dcterms:created>
  <dcterms:modified xsi:type="dcterms:W3CDTF">2026-04-25T13:40:55Z</dcterms:modified>
</cp:coreProperties>
</file>